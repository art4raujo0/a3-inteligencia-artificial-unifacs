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32404050" cy="43205400"/>
  <p:notesSz cx="6858000" cy="9144000"/>
  <p:defaultTextStyle>
    <a:defPPr>
      <a:defRPr lang="pt-BR"/>
    </a:defPPr>
    <a:lvl1pPr marL="0" algn="l" defTabSz="4320540" rtl="0" eaLnBrk="1" latinLnBrk="0" hangingPunct="1">
      <a:defRPr sz="8500" kern="1200">
        <a:solidFill>
          <a:schemeClr val="tx1"/>
        </a:solidFill>
        <a:latin typeface="+mn-lt"/>
        <a:ea typeface="+mn-ea"/>
        <a:cs typeface="+mn-cs"/>
      </a:defRPr>
    </a:lvl1pPr>
    <a:lvl2pPr marL="2160270" algn="l" defTabSz="4320540" rtl="0" eaLnBrk="1" latinLnBrk="0" hangingPunct="1">
      <a:defRPr sz="8500" kern="1200">
        <a:solidFill>
          <a:schemeClr val="tx1"/>
        </a:solidFill>
        <a:latin typeface="+mn-lt"/>
        <a:ea typeface="+mn-ea"/>
        <a:cs typeface="+mn-cs"/>
      </a:defRPr>
    </a:lvl2pPr>
    <a:lvl3pPr marL="4320540" algn="l" defTabSz="4320540" rtl="0" eaLnBrk="1" latinLnBrk="0" hangingPunct="1">
      <a:defRPr sz="8500" kern="1200">
        <a:solidFill>
          <a:schemeClr val="tx1"/>
        </a:solidFill>
        <a:latin typeface="+mn-lt"/>
        <a:ea typeface="+mn-ea"/>
        <a:cs typeface="+mn-cs"/>
      </a:defRPr>
    </a:lvl3pPr>
    <a:lvl4pPr marL="6480810" algn="l" defTabSz="4320540" rtl="0" eaLnBrk="1" latinLnBrk="0" hangingPunct="1">
      <a:defRPr sz="8500" kern="1200">
        <a:solidFill>
          <a:schemeClr val="tx1"/>
        </a:solidFill>
        <a:latin typeface="+mn-lt"/>
        <a:ea typeface="+mn-ea"/>
        <a:cs typeface="+mn-cs"/>
      </a:defRPr>
    </a:lvl4pPr>
    <a:lvl5pPr marL="8641080" algn="l" defTabSz="4320540" rtl="0" eaLnBrk="1" latinLnBrk="0" hangingPunct="1">
      <a:defRPr sz="8500" kern="1200">
        <a:solidFill>
          <a:schemeClr val="tx1"/>
        </a:solidFill>
        <a:latin typeface="+mn-lt"/>
        <a:ea typeface="+mn-ea"/>
        <a:cs typeface="+mn-cs"/>
      </a:defRPr>
    </a:lvl5pPr>
    <a:lvl6pPr marL="10801350" algn="l" defTabSz="4320540" rtl="0" eaLnBrk="1" latinLnBrk="0" hangingPunct="1">
      <a:defRPr sz="8500" kern="1200">
        <a:solidFill>
          <a:schemeClr val="tx1"/>
        </a:solidFill>
        <a:latin typeface="+mn-lt"/>
        <a:ea typeface="+mn-ea"/>
        <a:cs typeface="+mn-cs"/>
      </a:defRPr>
    </a:lvl6pPr>
    <a:lvl7pPr marL="12961620" algn="l" defTabSz="4320540" rtl="0" eaLnBrk="1" latinLnBrk="0" hangingPunct="1">
      <a:defRPr sz="8500" kern="1200">
        <a:solidFill>
          <a:schemeClr val="tx1"/>
        </a:solidFill>
        <a:latin typeface="+mn-lt"/>
        <a:ea typeface="+mn-ea"/>
        <a:cs typeface="+mn-cs"/>
      </a:defRPr>
    </a:lvl7pPr>
    <a:lvl8pPr marL="15121890" algn="l" defTabSz="4320540" rtl="0" eaLnBrk="1" latinLnBrk="0" hangingPunct="1">
      <a:defRPr sz="8500" kern="1200">
        <a:solidFill>
          <a:schemeClr val="tx1"/>
        </a:solidFill>
        <a:latin typeface="+mn-lt"/>
        <a:ea typeface="+mn-ea"/>
        <a:cs typeface="+mn-cs"/>
      </a:defRPr>
    </a:lvl8pPr>
    <a:lvl9pPr marL="17282160" algn="l" defTabSz="4320540"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8">
          <p15:clr>
            <a:srgbClr val="A4A3A4"/>
          </p15:clr>
        </p15:guide>
        <p15:guide id="2" pos="102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759" autoAdjust="0"/>
    <p:restoredTop sz="95287" autoAdjust="0"/>
  </p:normalViewPr>
  <p:slideViewPr>
    <p:cSldViewPr>
      <p:cViewPr>
        <p:scale>
          <a:sx n="33" d="100"/>
          <a:sy n="33" d="100"/>
        </p:scale>
        <p:origin x="931" y="-763"/>
      </p:cViewPr>
      <p:guideLst>
        <p:guide orient="horz" pos="13608"/>
        <p:guide pos="10206"/>
      </p:guideLst>
    </p:cSldViewPr>
  </p:slideViewPr>
  <p:outlineViewPr>
    <p:cViewPr>
      <p:scale>
        <a:sx n="33" d="100"/>
        <a:sy n="33" d="100"/>
      </p:scale>
      <p:origin x="0" y="115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ctrTitle"/>
          </p:nvPr>
        </p:nvSpPr>
        <p:spPr>
          <a:xfrm>
            <a:off x="2430304" y="13421680"/>
            <a:ext cx="27543443" cy="9261158"/>
          </a:xfrm>
        </p:spPr>
        <p:txBody>
          <a:bodyPr/>
          <a:lstStyle/>
          <a:p>
            <a:r>
              <a:rPr lang="pt-BR"/>
              <a:t>Clique para editar o estilo do título mestre</a:t>
            </a:r>
          </a:p>
        </p:txBody>
      </p:sp>
      <p:sp>
        <p:nvSpPr>
          <p:cNvPr id="3" name="Subtítulo 2"/>
          <p:cNvSpPr>
            <a:spLocks noGrp="1"/>
          </p:cNvSpPr>
          <p:nvPr>
            <p:ph type="subTitle" idx="1"/>
          </p:nvPr>
        </p:nvSpPr>
        <p:spPr>
          <a:xfrm>
            <a:off x="4860608" y="24483060"/>
            <a:ext cx="22682835" cy="11041380"/>
          </a:xfrm>
        </p:spPr>
        <p:txBody>
          <a:bodyPr/>
          <a:lstStyle>
            <a:lvl1pPr marL="0" indent="0" algn="ctr">
              <a:buNone/>
              <a:defRPr>
                <a:solidFill>
                  <a:schemeClr val="tx1">
                    <a:tint val="75000"/>
                  </a:schemeClr>
                </a:solidFill>
              </a:defRPr>
            </a:lvl1pPr>
            <a:lvl2pPr marL="2160270" indent="0" algn="ctr">
              <a:buNone/>
              <a:defRPr>
                <a:solidFill>
                  <a:schemeClr val="tx1">
                    <a:tint val="75000"/>
                  </a:schemeClr>
                </a:solidFill>
              </a:defRPr>
            </a:lvl2pPr>
            <a:lvl3pPr marL="4320540" indent="0" algn="ctr">
              <a:buNone/>
              <a:defRPr>
                <a:solidFill>
                  <a:schemeClr val="tx1">
                    <a:tint val="75000"/>
                  </a:schemeClr>
                </a:solidFill>
              </a:defRPr>
            </a:lvl3pPr>
            <a:lvl4pPr marL="6480810" indent="0" algn="ctr">
              <a:buNone/>
              <a:defRPr>
                <a:solidFill>
                  <a:schemeClr val="tx1">
                    <a:tint val="75000"/>
                  </a:schemeClr>
                </a:solidFill>
              </a:defRPr>
            </a:lvl4pPr>
            <a:lvl5pPr marL="8641080" indent="0" algn="ctr">
              <a:buNone/>
              <a:defRPr>
                <a:solidFill>
                  <a:schemeClr val="tx1">
                    <a:tint val="75000"/>
                  </a:schemeClr>
                </a:solidFill>
              </a:defRPr>
            </a:lvl5pPr>
            <a:lvl6pPr marL="10801350" indent="0" algn="ctr">
              <a:buNone/>
              <a:defRPr>
                <a:solidFill>
                  <a:schemeClr val="tx1">
                    <a:tint val="75000"/>
                  </a:schemeClr>
                </a:solidFill>
              </a:defRPr>
            </a:lvl6pPr>
            <a:lvl7pPr marL="12961620" indent="0" algn="ctr">
              <a:buNone/>
              <a:defRPr>
                <a:solidFill>
                  <a:schemeClr val="tx1">
                    <a:tint val="75000"/>
                  </a:schemeClr>
                </a:solidFill>
              </a:defRPr>
            </a:lvl7pPr>
            <a:lvl8pPr marL="15121890" indent="0" algn="ctr">
              <a:buNone/>
              <a:defRPr>
                <a:solidFill>
                  <a:schemeClr val="tx1">
                    <a:tint val="75000"/>
                  </a:schemeClr>
                </a:solidFill>
              </a:defRPr>
            </a:lvl8pPr>
            <a:lvl9pPr marL="1728216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B34088D9-6F99-4774-8F18-D88D64460132}" type="datetimeFigureOut">
              <a:rPr lang="pt-BR" smtClean="0"/>
              <a:pPr/>
              <a:t>21/11/2025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43A5AF6-92C6-4656-8B3D-FE2340DD8210}" type="slidenum">
              <a:rPr lang="pt-BR" smtClean="0"/>
              <a:pPr/>
              <a:t>‹nº›</a:t>
            </a:fld>
            <a:endParaRPr lang="pt-B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alpha val="24000"/>
          </a:schemeClr>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1620203" y="1730219"/>
            <a:ext cx="29163645" cy="7200900"/>
          </a:xfrm>
          <a:prstGeom prst="rect">
            <a:avLst/>
          </a:prstGeom>
        </p:spPr>
        <p:txBody>
          <a:bodyPr vert="horz" lIns="432054" tIns="216027" rIns="432054" bIns="216027"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1620203" y="10081263"/>
            <a:ext cx="29163645" cy="28513567"/>
          </a:xfrm>
          <a:prstGeom prst="rect">
            <a:avLst/>
          </a:prstGeom>
        </p:spPr>
        <p:txBody>
          <a:bodyPr vert="horz" lIns="432054" tIns="216027" rIns="432054" bIns="216027"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1620203" y="40045008"/>
            <a:ext cx="7560945" cy="2300288"/>
          </a:xfrm>
          <a:prstGeom prst="rect">
            <a:avLst/>
          </a:prstGeom>
        </p:spPr>
        <p:txBody>
          <a:bodyPr vert="horz" lIns="432054" tIns="216027" rIns="432054" bIns="216027" rtlCol="0" anchor="ctr"/>
          <a:lstStyle>
            <a:lvl1pPr algn="l">
              <a:defRPr sz="5700">
                <a:solidFill>
                  <a:schemeClr val="tx1">
                    <a:tint val="75000"/>
                  </a:schemeClr>
                </a:solidFill>
              </a:defRPr>
            </a:lvl1pPr>
          </a:lstStyle>
          <a:p>
            <a:fld id="{B34088D9-6F99-4774-8F18-D88D64460132}" type="datetimeFigureOut">
              <a:rPr lang="pt-BR" smtClean="0"/>
              <a:pPr/>
              <a:t>21/11/2025</a:t>
            </a:fld>
            <a:endParaRPr lang="pt-BR"/>
          </a:p>
        </p:txBody>
      </p:sp>
      <p:sp>
        <p:nvSpPr>
          <p:cNvPr id="5" name="Espaço Reservado para Rodapé 4"/>
          <p:cNvSpPr>
            <a:spLocks noGrp="1"/>
          </p:cNvSpPr>
          <p:nvPr>
            <p:ph type="ftr" sz="quarter" idx="3"/>
          </p:nvPr>
        </p:nvSpPr>
        <p:spPr>
          <a:xfrm>
            <a:off x="11071384" y="40045008"/>
            <a:ext cx="10261283" cy="2300288"/>
          </a:xfrm>
          <a:prstGeom prst="rect">
            <a:avLst/>
          </a:prstGeom>
        </p:spPr>
        <p:txBody>
          <a:bodyPr vert="horz" lIns="432054" tIns="216027" rIns="432054" bIns="216027" rtlCol="0" anchor="ctr"/>
          <a:lstStyle>
            <a:lvl1pPr algn="ctr">
              <a:defRPr sz="57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23222903" y="40045008"/>
            <a:ext cx="7560945" cy="2300288"/>
          </a:xfrm>
          <a:prstGeom prst="rect">
            <a:avLst/>
          </a:prstGeom>
        </p:spPr>
        <p:txBody>
          <a:bodyPr vert="horz" lIns="432054" tIns="216027" rIns="432054" bIns="216027" rtlCol="0" anchor="ctr"/>
          <a:lstStyle>
            <a:lvl1pPr algn="r">
              <a:defRPr sz="5700">
                <a:solidFill>
                  <a:schemeClr val="tx1">
                    <a:tint val="75000"/>
                  </a:schemeClr>
                </a:solidFill>
              </a:defRPr>
            </a:lvl1pPr>
          </a:lstStyle>
          <a:p>
            <a:fld id="{A43A5AF6-92C6-4656-8B3D-FE2340DD8210}"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20540" rtl="0" eaLnBrk="1" latinLnBrk="0" hangingPunct="1">
        <a:spcBef>
          <a:spcPct val="0"/>
        </a:spcBef>
        <a:buNone/>
        <a:defRPr sz="20800" kern="1200">
          <a:solidFill>
            <a:schemeClr val="tx1"/>
          </a:solidFill>
          <a:latin typeface="+mj-lt"/>
          <a:ea typeface="+mj-ea"/>
          <a:cs typeface="+mj-cs"/>
        </a:defRPr>
      </a:lvl1pPr>
    </p:titleStyle>
    <p:bodyStyle>
      <a:lvl1pPr marL="1620203" indent="-1620203" algn="l" defTabSz="432054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510439" indent="-1350169" algn="l" defTabSz="4320540" rtl="0" eaLnBrk="1" latinLnBrk="0" hangingPunct="1">
        <a:spcBef>
          <a:spcPct val="20000"/>
        </a:spcBef>
        <a:buFont typeface="Arial" pitchFamily="34" charset="0"/>
        <a:buChar char="–"/>
        <a:defRPr sz="13200" kern="1200">
          <a:solidFill>
            <a:schemeClr val="tx1"/>
          </a:solidFill>
          <a:latin typeface="+mn-lt"/>
          <a:ea typeface="+mn-ea"/>
          <a:cs typeface="+mn-cs"/>
        </a:defRPr>
      </a:lvl2pPr>
      <a:lvl3pPr marL="5400675" indent="-1080135" algn="l" defTabSz="432054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6094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72121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8148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404175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20202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36229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pt-BR"/>
      </a:defPPr>
      <a:lvl1pPr marL="0" algn="l" defTabSz="4320540" rtl="0" eaLnBrk="1" latinLnBrk="0" hangingPunct="1">
        <a:defRPr sz="8500" kern="1200">
          <a:solidFill>
            <a:schemeClr val="tx1"/>
          </a:solidFill>
          <a:latin typeface="+mn-lt"/>
          <a:ea typeface="+mn-ea"/>
          <a:cs typeface="+mn-cs"/>
        </a:defRPr>
      </a:lvl1pPr>
      <a:lvl2pPr marL="2160270" algn="l" defTabSz="4320540" rtl="0" eaLnBrk="1" latinLnBrk="0" hangingPunct="1">
        <a:defRPr sz="8500" kern="1200">
          <a:solidFill>
            <a:schemeClr val="tx1"/>
          </a:solidFill>
          <a:latin typeface="+mn-lt"/>
          <a:ea typeface="+mn-ea"/>
          <a:cs typeface="+mn-cs"/>
        </a:defRPr>
      </a:lvl2pPr>
      <a:lvl3pPr marL="4320540" algn="l" defTabSz="4320540" rtl="0" eaLnBrk="1" latinLnBrk="0" hangingPunct="1">
        <a:defRPr sz="8500" kern="1200">
          <a:solidFill>
            <a:schemeClr val="tx1"/>
          </a:solidFill>
          <a:latin typeface="+mn-lt"/>
          <a:ea typeface="+mn-ea"/>
          <a:cs typeface="+mn-cs"/>
        </a:defRPr>
      </a:lvl3pPr>
      <a:lvl4pPr marL="6480810" algn="l" defTabSz="4320540" rtl="0" eaLnBrk="1" latinLnBrk="0" hangingPunct="1">
        <a:defRPr sz="8500" kern="1200">
          <a:solidFill>
            <a:schemeClr val="tx1"/>
          </a:solidFill>
          <a:latin typeface="+mn-lt"/>
          <a:ea typeface="+mn-ea"/>
          <a:cs typeface="+mn-cs"/>
        </a:defRPr>
      </a:lvl4pPr>
      <a:lvl5pPr marL="8641080" algn="l" defTabSz="4320540" rtl="0" eaLnBrk="1" latinLnBrk="0" hangingPunct="1">
        <a:defRPr sz="8500" kern="1200">
          <a:solidFill>
            <a:schemeClr val="tx1"/>
          </a:solidFill>
          <a:latin typeface="+mn-lt"/>
          <a:ea typeface="+mn-ea"/>
          <a:cs typeface="+mn-cs"/>
        </a:defRPr>
      </a:lvl5pPr>
      <a:lvl6pPr marL="10801350" algn="l" defTabSz="4320540" rtl="0" eaLnBrk="1" latinLnBrk="0" hangingPunct="1">
        <a:defRPr sz="8500" kern="1200">
          <a:solidFill>
            <a:schemeClr val="tx1"/>
          </a:solidFill>
          <a:latin typeface="+mn-lt"/>
          <a:ea typeface="+mn-ea"/>
          <a:cs typeface="+mn-cs"/>
        </a:defRPr>
      </a:lvl6pPr>
      <a:lvl7pPr marL="12961620" algn="l" defTabSz="4320540" rtl="0" eaLnBrk="1" latinLnBrk="0" hangingPunct="1">
        <a:defRPr sz="8500" kern="1200">
          <a:solidFill>
            <a:schemeClr val="tx1"/>
          </a:solidFill>
          <a:latin typeface="+mn-lt"/>
          <a:ea typeface="+mn-ea"/>
          <a:cs typeface="+mn-cs"/>
        </a:defRPr>
      </a:lvl7pPr>
      <a:lvl8pPr marL="15121890" algn="l" defTabSz="4320540" rtl="0" eaLnBrk="1" latinLnBrk="0" hangingPunct="1">
        <a:defRPr sz="8500" kern="1200">
          <a:solidFill>
            <a:schemeClr val="tx1"/>
          </a:solidFill>
          <a:latin typeface="+mn-lt"/>
          <a:ea typeface="+mn-ea"/>
          <a:cs typeface="+mn-cs"/>
        </a:defRPr>
      </a:lvl8pPr>
      <a:lvl9pPr marL="17282160" algn="l" defTabSz="4320540"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9" name="Retângulo 8"/>
          <p:cNvSpPr/>
          <p:nvPr/>
        </p:nvSpPr>
        <p:spPr>
          <a:xfrm>
            <a:off x="-8813" y="-58487"/>
            <a:ext cx="32412863" cy="4320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p:cNvSpPr>
            <a:spLocks noGrp="1"/>
          </p:cNvSpPr>
          <p:nvPr>
            <p:ph type="ctrTitle"/>
          </p:nvPr>
        </p:nvSpPr>
        <p:spPr>
          <a:xfrm>
            <a:off x="861806" y="3456684"/>
            <a:ext cx="30749932" cy="7416824"/>
          </a:xfrm>
        </p:spPr>
        <p:txBody>
          <a:bodyPr>
            <a:normAutofit fontScale="90000"/>
          </a:bodyPr>
          <a:lstStyle/>
          <a:p>
            <a:pPr algn="l" hangingPunct="0"/>
            <a:br>
              <a:rPr lang="pt-BR" sz="4000" b="1" dirty="0"/>
            </a:br>
            <a:br>
              <a:rPr lang="pt-BR" sz="4000" b="1" dirty="0"/>
            </a:br>
            <a:r>
              <a:rPr lang="pt-BR" sz="8000" b="1" dirty="0">
                <a:latin typeface="Times New Roman" panose="02020603050405020304" pitchFamily="18" charset="0"/>
                <a:cs typeface="Times New Roman" panose="02020603050405020304" pitchFamily="18" charset="0"/>
              </a:rPr>
              <a:t>JOGO DA VELHA COM IA</a:t>
            </a:r>
            <a:br>
              <a:rPr lang="pt-BR" sz="10700" b="1" dirty="0">
                <a:latin typeface="Times New Roman" panose="02020603050405020304" pitchFamily="18" charset="0"/>
                <a:cs typeface="Times New Roman" panose="02020603050405020304" pitchFamily="18" charset="0"/>
              </a:rPr>
            </a:br>
            <a:r>
              <a:rPr lang="pt-BR" sz="4400" b="1" dirty="0">
                <a:latin typeface="Times New Roman" panose="02020603050405020304" pitchFamily="18" charset="0"/>
                <a:cs typeface="Times New Roman" panose="02020603050405020304" pitchFamily="18" charset="0"/>
              </a:rPr>
              <a:t>Trabalho A3 - Inteligência Artificial</a:t>
            </a:r>
            <a:br>
              <a:rPr lang="pt-BR" sz="4400" b="1" dirty="0">
                <a:latin typeface="Times New Roman" panose="02020603050405020304" pitchFamily="18" charset="0"/>
                <a:cs typeface="Times New Roman" panose="02020603050405020304" pitchFamily="18" charset="0"/>
              </a:rPr>
            </a:br>
            <a:r>
              <a:rPr lang="pt-BR" sz="3600" b="1" dirty="0">
                <a:latin typeface="Times New Roman" panose="02020603050405020304" pitchFamily="18" charset="0"/>
                <a:cs typeface="Times New Roman" panose="02020603050405020304" pitchFamily="18" charset="0"/>
              </a:rPr>
              <a:t>DESENVOLVIMENTO DE AGENTE INTELIGENTE PARA JOGO DA VELHA UTILIZANDO PROGRAMAÇÃO ORIENTADA OBJETO</a:t>
            </a:r>
            <a:br>
              <a:rPr lang="pt-BR" sz="7200" b="1" dirty="0">
                <a:latin typeface="Times New Roman" panose="02020603050405020304" pitchFamily="18" charset="0"/>
                <a:cs typeface="Times New Roman" panose="02020603050405020304" pitchFamily="18" charset="0"/>
              </a:rPr>
            </a:br>
            <a:br>
              <a:rPr lang="pt-BR" sz="5400" dirty="0"/>
            </a:br>
            <a:r>
              <a:rPr lang="pt-BR" sz="4400" b="1" dirty="0"/>
              <a:t>Arthur </a:t>
            </a:r>
            <a:r>
              <a:rPr lang="pt-BR" sz="4400" b="1"/>
              <a:t>Santos Araújo;</a:t>
            </a:r>
            <a:br>
              <a:rPr lang="pt-BR" sz="4400" b="1" dirty="0"/>
            </a:br>
            <a:r>
              <a:rPr lang="pt-BR" sz="4400" b="1" dirty="0"/>
              <a:t>Gabriel Santos Rocha;</a:t>
            </a:r>
            <a:br>
              <a:rPr lang="pt-BR" sz="4400" b="1" dirty="0"/>
            </a:br>
            <a:r>
              <a:rPr lang="pt-BR" sz="4400" b="1" dirty="0"/>
              <a:t>Matheus Barbosa Costa;</a:t>
            </a:r>
            <a:br>
              <a:rPr lang="pt-BR" sz="4400" b="1" dirty="0"/>
            </a:br>
            <a:r>
              <a:rPr lang="pt-BR" sz="4400" b="1" dirty="0"/>
              <a:t>Rubem Matheus Vieira Martins.</a:t>
            </a:r>
            <a:br>
              <a:rPr lang="pt-BR" sz="4400" b="1" dirty="0"/>
            </a:br>
            <a:br>
              <a:rPr lang="pt-BR" sz="4400" b="1" dirty="0"/>
            </a:br>
            <a:r>
              <a:rPr lang="pt-BR" sz="4400" dirty="0"/>
              <a:t>Universidade Salvador – Salvador – BA – Brasil</a:t>
            </a:r>
            <a:br>
              <a:rPr lang="pt-BR" sz="9600" dirty="0"/>
            </a:br>
            <a:endParaRPr lang="pt-BR" sz="4400" dirty="0"/>
          </a:p>
        </p:txBody>
      </p:sp>
      <p:sp>
        <p:nvSpPr>
          <p:cNvPr id="3" name="Subtítulo 2"/>
          <p:cNvSpPr>
            <a:spLocks noGrp="1"/>
          </p:cNvSpPr>
          <p:nvPr>
            <p:ph type="subTitle" idx="1"/>
          </p:nvPr>
        </p:nvSpPr>
        <p:spPr>
          <a:xfrm>
            <a:off x="696254" y="11970852"/>
            <a:ext cx="14785564" cy="24537504"/>
          </a:xfrm>
          <a:ln>
            <a:noFill/>
          </a:ln>
        </p:spPr>
        <p:txBody>
          <a:bodyPr vert="horz" lIns="432054" tIns="216027" rIns="432054" bIns="216027" rtlCol="0" anchor="t">
            <a:noAutofit/>
          </a:bodyPr>
          <a:lstStyle/>
          <a:p>
            <a:pPr algn="just">
              <a:spcBef>
                <a:spcPts val="0"/>
              </a:spcBef>
            </a:pPr>
            <a:r>
              <a:rPr lang="pt-BR" sz="6600" b="1" dirty="0">
                <a:solidFill>
                  <a:schemeClr val="tx1"/>
                </a:solidFill>
              </a:rPr>
              <a:t>INTRODUÇÃO</a:t>
            </a:r>
          </a:p>
          <a:p>
            <a:pPr algn="just">
              <a:spcBef>
                <a:spcPts val="0"/>
              </a:spcBef>
            </a:pPr>
            <a:endParaRPr lang="pt-BR" sz="3200" b="1" dirty="0">
              <a:solidFill>
                <a:schemeClr val="tx1"/>
              </a:solidFill>
            </a:endParaRPr>
          </a:p>
          <a:p>
            <a:pPr algn="just"/>
            <a:r>
              <a:rPr lang="pt-BR" sz="3200" dirty="0">
                <a:solidFill>
                  <a:schemeClr val="tx1"/>
                </a:solidFill>
                <a:latin typeface="Times New Roman" panose="02020603050405020304" pitchFamily="18" charset="0"/>
                <a:cs typeface="Times New Roman" panose="02020603050405020304" pitchFamily="18" charset="0"/>
              </a:rPr>
              <a:t>O Jogo da Velha é um problema clássico na área de Inteligência Artificial, caracterizado como um ambiente determinístico, de soma-zero e com informação perfeita. Embora apresente uma aparente simplicidade, serve como um excelente campo de provas para a modelagem de Agentes Racionais. Nesse contexto, este projeto visa desenvolver uma aplicação onde um agente autônomo utiliza algoritmos de tomada de decisão para competir de forma competente contra jogadores humanos, aplicando conceitos de IA simbólica e heurísticas.</a:t>
            </a:r>
          </a:p>
          <a:p>
            <a:pPr algn="just"/>
            <a:r>
              <a:rPr lang="pt-BR" sz="3200" dirty="0">
                <a:solidFill>
                  <a:schemeClr val="tx1"/>
                </a:solidFill>
                <a:latin typeface="Times New Roman" panose="02020603050405020304" pitchFamily="18" charset="0"/>
                <a:cs typeface="Times New Roman" panose="02020603050405020304" pitchFamily="18" charset="0"/>
              </a:rPr>
              <a:t>Diferente de implementações procedurais simples, o trabalho adota uma arquitetura robusta baseada em Programação Orientada a Objetos (POO). Essa abordagem permite separar a lógica do jogo da inteligência do agente, simulando efetivamente a interação entre o Agente e seu Ambiente. Para atingir esse propósito, será implementado um algoritmo de decisão baseado em regras de prioridade abrangendo ataque, defesa e estratégia. Garantindo que o agente seja capaz de identificar vitórias, realizar bloqueios e executar jogadas ótimas em tempo real.</a:t>
            </a:r>
          </a:p>
          <a:p>
            <a:pPr algn="just"/>
            <a:endParaRPr lang="pt-BR" sz="3200" dirty="0">
              <a:solidFill>
                <a:schemeClr val="tx1"/>
              </a:solidFill>
              <a:latin typeface="Times New Roman" panose="02020603050405020304" pitchFamily="18" charset="0"/>
              <a:cs typeface="Times New Roman" panose="02020603050405020304" pitchFamily="18" charset="0"/>
            </a:endParaRPr>
          </a:p>
          <a:p>
            <a:pPr algn="l"/>
            <a:endParaRPr lang="pt-BR" sz="1050" b="1" dirty="0">
              <a:solidFill>
                <a:schemeClr val="accent1">
                  <a:lumMod val="75000"/>
                </a:schemeClr>
              </a:solidFill>
            </a:endParaRPr>
          </a:p>
          <a:p>
            <a:pPr algn="just">
              <a:spcBef>
                <a:spcPts val="0"/>
              </a:spcBef>
            </a:pPr>
            <a:r>
              <a:rPr lang="pt-BR" sz="6600" b="1" dirty="0">
                <a:solidFill>
                  <a:schemeClr val="tx1"/>
                </a:solidFill>
              </a:rPr>
              <a:t>MÉTODOS</a:t>
            </a:r>
          </a:p>
          <a:p>
            <a:pPr algn="just">
              <a:spcBef>
                <a:spcPts val="0"/>
              </a:spcBef>
            </a:pPr>
            <a:endParaRPr lang="pt-BR" sz="3200" dirty="0"/>
          </a:p>
          <a:p>
            <a:pPr algn="just"/>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A solução técnica foi desenvolvida utilizando a linguagem Python e está estruturada sobre uma arquitetura de três classes fundamentais que organizam todo o sistema. A primeira delas é a classe Ambiente, que atua como o "Juiz" da partida; ela é responsável por representar o tabuleiro, manter a matriz de estado 3x3, validar a legalidade dos movimentos e verificar constantemente as condições de vitória ou empate. Em conjunto, temos a classe Agente, uma estrutura base que define as propriedades genéricas de qualquer jogador, como os símbolos 'X' ou 'O', servindo de molde para a classe </a:t>
            </a:r>
            <a:r>
              <a:rPr lang="pt-BR" sz="3200" dirty="0" err="1">
                <a:solidFill>
                  <a:schemeClr val="tx1">
                    <a:lumMod val="95000"/>
                    <a:lumOff val="5000"/>
                  </a:schemeClr>
                </a:solidFill>
                <a:latin typeface="Times New Roman" panose="02020603050405020304" pitchFamily="18" charset="0"/>
                <a:cs typeface="Times New Roman" panose="02020603050405020304" pitchFamily="18" charset="0"/>
              </a:rPr>
              <a:t>AgenteIA</a:t>
            </a:r>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 Esta última, por meio de herança, especializa o comportamento do jogador virtual ao implementar o método cognitivo responsável pela tomada de decisão.</a:t>
            </a:r>
          </a:p>
          <a:p>
            <a:pPr algn="just"/>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O "cérebro" desse agente opera através da função pensar(), que executa uma varredura no tabuleiro a cada rodada seguindo uma hierarquia de prioridades estrita para decidir a melhor jogada. O processo inicia-se verificando a possibilidade de uma vitória imediata; se houver uma chance de encerrar a partida, o agente a aproveita instantaneamente. Caso a vitória não esteja ao alcance, o foco muda para a defesa, onde o sistema analisa se o oponente está prestes a ganhar e, se necessário, bloqueia essa posição imediatamente. Quando não há riscos iminentes nem chances de vitória direta, o agente adota uma postura estratégica, tentando ocupar o centro do tabuleiro, que é a posição mais valiosa, ou, na falta deste, os cantos. Em último caso, se nenhuma regra anterior for aplicável, ele seleciona qualquer espaço vazio que tenha sobrado.</a:t>
            </a:r>
          </a:p>
          <a:p>
            <a:pPr algn="just"/>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Essa orquestração entre as classes permite que o fluxo do jogo ocorra de maneira fluida e modular dentro de um ciclo de repetição principal. O software alterna os turnos solicitando a entrada do usuário e, em seguida, aciona a inteligência do agente para processar sua resposta, atualizando o ambiente visualmente a cada passo. Essa abordagem estruturada não apenas organiza o código, tornando-o mais legível, mas também garante que a lógica do "pensamento" da máquina esteja isolada das regras de desenho do tabuleiro, facilitando futuras manutenções ou a implementação de novos níveis de dificuldade sem a necessidade de reescrever todo o projeto.</a:t>
            </a:r>
          </a:p>
          <a:p>
            <a:pPr algn="just">
              <a:spcBef>
                <a:spcPts val="0"/>
              </a:spcBef>
            </a:pPr>
            <a:endParaRPr lang="pt-BR" sz="9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spcBef>
                <a:spcPts val="0"/>
              </a:spcBef>
            </a:pPr>
            <a:endParaRPr lang="pt-BR" sz="2800" dirty="0">
              <a:solidFill>
                <a:schemeClr val="tx1"/>
              </a:solidFill>
            </a:endParaRPr>
          </a:p>
        </p:txBody>
      </p:sp>
      <p:sp>
        <p:nvSpPr>
          <p:cNvPr id="15" name="Subtítulo 2"/>
          <p:cNvSpPr txBox="1">
            <a:spLocks/>
          </p:cNvSpPr>
          <p:nvPr/>
        </p:nvSpPr>
        <p:spPr>
          <a:xfrm>
            <a:off x="16129959" y="12066042"/>
            <a:ext cx="15576604" cy="27106610"/>
          </a:xfrm>
          <a:prstGeom prst="rect">
            <a:avLst/>
          </a:prstGeom>
          <a:noFill/>
          <a:ln>
            <a:noFill/>
          </a:ln>
        </p:spPr>
        <p:txBody>
          <a:bodyPr vert="horz" lIns="432054" tIns="216027" rIns="432054" bIns="216027" rtlCol="0" anchor="t">
            <a:noAutofit/>
          </a:bodyPr>
          <a:lstStyle/>
          <a:p>
            <a:pPr algn="just">
              <a:spcBef>
                <a:spcPts val="0"/>
              </a:spcBef>
            </a:pPr>
            <a:r>
              <a:rPr lang="pt-BR" sz="6600" b="1" dirty="0">
                <a:solidFill>
                  <a:schemeClr val="tx1"/>
                </a:solidFill>
              </a:rPr>
              <a:t>RESULTADOS</a:t>
            </a:r>
            <a:endParaRPr lang="pt-BR" sz="7200" b="1" dirty="0">
              <a:solidFill>
                <a:schemeClr val="tx1"/>
              </a:solidFill>
            </a:endParaRPr>
          </a:p>
          <a:p>
            <a:pPr algn="just"/>
            <a:r>
              <a:rPr lang="pt-BR" sz="3000" dirty="0">
                <a:latin typeface="Times New Roman" panose="02020603050405020304" pitchFamily="18" charset="0"/>
                <a:cs typeface="Times New Roman" panose="02020603050405020304" pitchFamily="18" charset="0"/>
              </a:rPr>
              <a:t>Os testes realizados com o agente demonstraram um comportamento estratégico consistente: </a:t>
            </a:r>
          </a:p>
          <a:p>
            <a:pPr marL="457200" indent="-457200" algn="just">
              <a:buFont typeface="Arial" panose="020B0604020202020204" pitchFamily="34" charset="0"/>
              <a:buChar char="•"/>
            </a:pPr>
            <a:r>
              <a:rPr lang="pt-BR" sz="3000" b="1" dirty="0">
                <a:latin typeface="Times New Roman" panose="02020603050405020304" pitchFamily="18" charset="0"/>
                <a:cs typeface="Times New Roman" panose="02020603050405020304" pitchFamily="18" charset="0"/>
              </a:rPr>
              <a:t>Desempenho Defensivo: O agente obteve 100% de sucesso em bloquear vitórias iminentes do adversário humano, impedindo derrotas por desatenção. </a:t>
            </a:r>
          </a:p>
          <a:p>
            <a:pPr marL="457200" indent="-457200" algn="just">
              <a:buFont typeface="Arial" panose="020B0604020202020204" pitchFamily="34" charset="0"/>
              <a:buChar char="•"/>
            </a:pPr>
            <a:r>
              <a:rPr lang="pt-BR" sz="3000" b="1" dirty="0">
                <a:latin typeface="Times New Roman" panose="02020603050405020304" pitchFamily="18" charset="0"/>
                <a:cs typeface="Times New Roman" panose="02020603050405020304" pitchFamily="18" charset="0"/>
              </a:rPr>
              <a:t>Desempenho Ofensivo: O agente foi capaz de identificar e executar todas as oportunidades de vitória imediata apresentadas.</a:t>
            </a:r>
          </a:p>
          <a:p>
            <a:pPr marL="457200" indent="-457200" algn="just">
              <a:buFont typeface="Arial" panose="020B0604020202020204" pitchFamily="34" charset="0"/>
              <a:buChar char="•"/>
            </a:pPr>
            <a:r>
              <a:rPr lang="pt-BR" sz="3000" b="1" dirty="0">
                <a:latin typeface="Times New Roman" panose="02020603050405020304" pitchFamily="18" charset="0"/>
                <a:cs typeface="Times New Roman" panose="02020603050405020304" pitchFamily="18" charset="0"/>
              </a:rPr>
              <a:t> Eficiência: O tempo de resposta para a tomada de decisão foi imediato (&lt; 0.1s), demonstrando a leveza do algoritmo baseado em regras comparado a buscas profundas em árvore.</a:t>
            </a:r>
          </a:p>
          <a:p>
            <a:pPr marL="457200" indent="-457200" algn="just">
              <a:buFont typeface="Arial" panose="020B0604020202020204" pitchFamily="34" charset="0"/>
              <a:buChar char="•"/>
            </a:pPr>
            <a:r>
              <a:rPr lang="pt-BR" sz="3000" b="1" dirty="0">
                <a:latin typeface="Times New Roman" panose="02020603050405020304" pitchFamily="18" charset="0"/>
                <a:cs typeface="Times New Roman" panose="02020603050405020304" pitchFamily="18" charset="0"/>
              </a:rPr>
              <a:t> Limitação: Observou-se que, contra jogadores humanos perfeitos, o agente tende ao empate, comportamento esperado para o Jogo da Velha. </a:t>
            </a:r>
          </a:p>
          <a:p>
            <a:pPr algn="just"/>
            <a:endParaRPr lang="pt-BR" sz="3000" dirty="0">
              <a:latin typeface="Times New Roman" panose="02020603050405020304" pitchFamily="18" charset="0"/>
              <a:cs typeface="Times New Roman" panose="02020603050405020304" pitchFamily="18" charset="0"/>
            </a:endParaRPr>
          </a:p>
          <a:p>
            <a:pPr algn="just"/>
            <a:r>
              <a:rPr lang="pt-BR" sz="3000" dirty="0">
                <a:latin typeface="Times New Roman" panose="02020603050405020304" pitchFamily="18" charset="0"/>
                <a:cs typeface="Times New Roman" panose="02020603050405020304" pitchFamily="18" charset="0"/>
              </a:rPr>
              <a:t>A análise qualitativa revelou que o Agente IA apresenta pontos fortes decisivos, como a </a:t>
            </a:r>
            <a:r>
              <a:rPr lang="pt-BR" sz="3000" b="1" dirty="0">
                <a:solidFill>
                  <a:schemeClr val="tx1">
                    <a:lumMod val="95000"/>
                    <a:lumOff val="5000"/>
                  </a:schemeClr>
                </a:solidFill>
                <a:latin typeface="Times New Roman" panose="02020603050405020304" pitchFamily="18" charset="0"/>
                <a:cs typeface="Times New Roman" panose="02020603050405020304" pitchFamily="18" charset="0"/>
              </a:rPr>
              <a:t>ausência de erros táticos básicos, a identificação imediata de vitórias e a execução infalível de bloqueios defensivos</a:t>
            </a:r>
            <a:r>
              <a:rPr lang="pt-BR" sz="3000" dirty="0">
                <a:latin typeface="Times New Roman" panose="02020603050405020304" pitchFamily="18" charset="0"/>
                <a:cs typeface="Times New Roman" panose="02020603050405020304" pitchFamily="18" charset="0"/>
              </a:rPr>
              <a:t> quando ameaçado. O comportamento mostrou-se consistente e determinístico em todas as partidas simuladas. </a:t>
            </a:r>
          </a:p>
          <a:p>
            <a:pPr algn="just"/>
            <a:r>
              <a:rPr lang="pt-BR" sz="3000" dirty="0">
                <a:latin typeface="Times New Roman" panose="02020603050405020304" pitchFamily="18" charset="0"/>
                <a:cs typeface="Times New Roman" panose="02020603050405020304" pitchFamily="18" charset="0"/>
              </a:rPr>
              <a:t>Como limitações, observou-se um padrão de jogadas repetitivo em aberturas simétricas e uma vulnerabilidade a táticas de 'dupla ameaça' (garfos), uma vez que a heurística baseada em regras prioriza o estado atual sem simular profundidade futura. Contudo, diferente de jogos mais complexos, o tempo de resposta manteve-se </a:t>
            </a:r>
            <a:r>
              <a:rPr lang="pt-BR" sz="3000" b="1" dirty="0">
                <a:latin typeface="Times New Roman" panose="02020603050405020304" pitchFamily="18" charset="0"/>
                <a:cs typeface="Times New Roman" panose="02020603050405020304" pitchFamily="18" charset="0"/>
              </a:rPr>
              <a:t>imediato e constante</a:t>
            </a:r>
            <a:r>
              <a:rPr lang="pt-BR" sz="3000" dirty="0">
                <a:latin typeface="Times New Roman" panose="02020603050405020304" pitchFamily="18" charset="0"/>
                <a:cs typeface="Times New Roman" panose="02020603050405020304" pitchFamily="18" charset="0"/>
              </a:rPr>
              <a:t>, independentemente do estágio da partida, validando a eficiência computacional da arquitetura proposta.</a:t>
            </a:r>
            <a:endParaRPr lang="pt-BR" sz="3000" b="1" dirty="0">
              <a:latin typeface="Times New Roman" panose="02020603050405020304" pitchFamily="18" charset="0"/>
              <a:cs typeface="Times New Roman" panose="02020603050405020304" pitchFamily="18" charset="0"/>
            </a:endParaRPr>
          </a:p>
          <a:p>
            <a:endParaRPr lang="pt-BR" sz="4400" b="1" dirty="0"/>
          </a:p>
          <a:p>
            <a:r>
              <a:rPr lang="pt-BR" sz="4400" b="1" dirty="0">
                <a:latin typeface="Times New Roman" panose="02020603050405020304" pitchFamily="18" charset="0"/>
                <a:cs typeface="Times New Roman" panose="02020603050405020304" pitchFamily="18" charset="0"/>
              </a:rPr>
              <a:t>Figura 1 – Interface do jogo em execução no terminal, demonstrando a interação entre Humano e Agente IA.</a:t>
            </a:r>
            <a:endParaRPr lang="pt-BR" sz="4400" b="1" dirty="0"/>
          </a:p>
          <a:p>
            <a:pPr algn="just">
              <a:spcBef>
                <a:spcPts val="0"/>
              </a:spcBef>
            </a:pPr>
            <a:endParaRPr lang="pt-BR" sz="9600" b="1" dirty="0"/>
          </a:p>
          <a:p>
            <a:pPr algn="just">
              <a:spcBef>
                <a:spcPts val="0"/>
              </a:spcBef>
            </a:pPr>
            <a:endParaRPr lang="pt-BR" sz="9600" b="1" dirty="0"/>
          </a:p>
          <a:p>
            <a:pPr algn="just"/>
            <a:endParaRPr lang="pt-BR" sz="9600" b="1" dirty="0"/>
          </a:p>
          <a:p>
            <a:pPr algn="just"/>
            <a:endParaRPr lang="pt-BR" sz="9600" b="1" dirty="0"/>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r>
              <a:rPr lang="pt-BR" sz="6600" b="1" dirty="0"/>
              <a:t>CONCLUSÃO</a:t>
            </a:r>
            <a:endParaRPr lang="pt-BR" sz="9600" b="1" dirty="0"/>
          </a:p>
          <a:p>
            <a:pPr algn="just"/>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O desenvolvimento deste projeto permitiu aplicar na prática ideias fundamentais de Inteligência Artificial e organização de software. O uso da Programação Orientada a Objetos facilitou bastante a construção do sistema, separando claramente as regras do tabuleiro (o Ambiente) da inteligência do computador (o Agente).</a:t>
            </a:r>
          </a:p>
          <a:p>
            <a:pPr algn="just"/>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O sistema de prioridades que implementamos se mostrou uma solução eficiente. Ele criou um oponente que oferece um bom desafio para jogadores casuais e se mantém firme contra jogadores experientes. Contudo, vale ressaltar uma característica matemática do próprio jogo: concluímos que, ao enfrentar um humano que saiba o mínimo das regras e jogue de forma racional para se defender, o resultado final </a:t>
            </a:r>
            <a:r>
              <a:rPr lang="pt-BR" sz="3200" b="1" dirty="0">
                <a:solidFill>
                  <a:schemeClr val="tx1">
                    <a:lumMod val="95000"/>
                    <a:lumOff val="5000"/>
                  </a:schemeClr>
                </a:solidFill>
                <a:latin typeface="Times New Roman" panose="02020603050405020304" pitchFamily="18" charset="0"/>
                <a:cs typeface="Times New Roman" panose="02020603050405020304" pitchFamily="18" charset="0"/>
              </a:rPr>
              <a:t>sempre será um empate</a:t>
            </a:r>
            <a:r>
              <a:rPr lang="pt-BR" sz="3200" dirty="0">
                <a:solidFill>
                  <a:schemeClr val="tx1">
                    <a:lumMod val="95000"/>
                    <a:lumOff val="5000"/>
                  </a:schemeClr>
                </a:solidFill>
                <a:latin typeface="Times New Roman" panose="02020603050405020304" pitchFamily="18" charset="0"/>
                <a:cs typeface="Times New Roman" panose="02020603050405020304" pitchFamily="18" charset="0"/>
              </a:rPr>
              <a:t>.</a:t>
            </a:r>
          </a:p>
          <a:p>
            <a:endParaRPr lang="pt-BR" sz="2800" dirty="0"/>
          </a:p>
        </p:txBody>
      </p:sp>
      <p:sp>
        <p:nvSpPr>
          <p:cNvPr id="4" name="Rectangle 3"/>
          <p:cNvSpPr>
            <a:spLocks noChangeArrowheads="1"/>
          </p:cNvSpPr>
          <p:nvPr/>
        </p:nvSpPr>
        <p:spPr bwMode="auto">
          <a:xfrm>
            <a:off x="0" y="0"/>
            <a:ext cx="3240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5" name="Rectangle 4"/>
          <p:cNvSpPr>
            <a:spLocks noChangeArrowheads="1"/>
          </p:cNvSpPr>
          <p:nvPr/>
        </p:nvSpPr>
        <p:spPr bwMode="auto">
          <a:xfrm>
            <a:off x="0" y="457200"/>
            <a:ext cx="3240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7" name="Subtítulo 2"/>
          <p:cNvSpPr txBox="1">
            <a:spLocks/>
          </p:cNvSpPr>
          <p:nvPr/>
        </p:nvSpPr>
        <p:spPr>
          <a:xfrm>
            <a:off x="106852" y="37600102"/>
            <a:ext cx="30749932" cy="5903380"/>
          </a:xfrm>
          <a:prstGeom prst="rect">
            <a:avLst/>
          </a:prstGeom>
          <a:ln>
            <a:noFill/>
          </a:ln>
        </p:spPr>
        <p:txBody>
          <a:bodyPr vert="horz" lIns="432054" tIns="216027" rIns="432054" bIns="216027" rtlCol="0" anchor="t">
            <a:noAutofit/>
          </a:bodyPr>
          <a:lstStyle>
            <a:lvl1pPr marL="0" indent="0" algn="ctr" defTabSz="4320540" rtl="0" eaLnBrk="1" latinLnBrk="0" hangingPunct="1">
              <a:spcBef>
                <a:spcPct val="20000"/>
              </a:spcBef>
              <a:buFont typeface="Arial" pitchFamily="34" charset="0"/>
              <a:buNone/>
              <a:defRPr sz="15100" kern="1200">
                <a:solidFill>
                  <a:schemeClr val="tx1">
                    <a:tint val="75000"/>
                  </a:schemeClr>
                </a:solidFill>
                <a:latin typeface="+mn-lt"/>
                <a:ea typeface="+mn-ea"/>
                <a:cs typeface="+mn-cs"/>
              </a:defRPr>
            </a:lvl1pPr>
            <a:lvl2pPr marL="2160270" indent="0" algn="ctr" defTabSz="4320540" rtl="0" eaLnBrk="1" latinLnBrk="0" hangingPunct="1">
              <a:spcBef>
                <a:spcPct val="20000"/>
              </a:spcBef>
              <a:buFont typeface="Arial" pitchFamily="34" charset="0"/>
              <a:buNone/>
              <a:defRPr sz="13200" kern="1200">
                <a:solidFill>
                  <a:schemeClr val="tx1">
                    <a:tint val="75000"/>
                  </a:schemeClr>
                </a:solidFill>
                <a:latin typeface="+mn-lt"/>
                <a:ea typeface="+mn-ea"/>
                <a:cs typeface="+mn-cs"/>
              </a:defRPr>
            </a:lvl2pPr>
            <a:lvl3pPr marL="4320540" indent="0" algn="ctr" defTabSz="4320540" rtl="0" eaLnBrk="1" latinLnBrk="0" hangingPunct="1">
              <a:spcBef>
                <a:spcPct val="20000"/>
              </a:spcBef>
              <a:buFont typeface="Arial" pitchFamily="34" charset="0"/>
              <a:buNone/>
              <a:defRPr sz="11300" kern="1200">
                <a:solidFill>
                  <a:schemeClr val="tx1">
                    <a:tint val="75000"/>
                  </a:schemeClr>
                </a:solidFill>
                <a:latin typeface="+mn-lt"/>
                <a:ea typeface="+mn-ea"/>
                <a:cs typeface="+mn-cs"/>
              </a:defRPr>
            </a:lvl3pPr>
            <a:lvl4pPr marL="648081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4pPr>
            <a:lvl5pPr marL="864108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5pPr>
            <a:lvl6pPr marL="1080135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6pPr>
            <a:lvl7pPr marL="1296162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7pPr>
            <a:lvl8pPr marL="1512189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8pPr>
            <a:lvl9pPr marL="1728216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9pPr>
          </a:lstStyle>
          <a:p>
            <a:pPr algn="just">
              <a:spcBef>
                <a:spcPts val="0"/>
              </a:spcBef>
            </a:pPr>
            <a:r>
              <a:rPr lang="pt-BR" sz="6600" b="1" dirty="0">
                <a:solidFill>
                  <a:schemeClr val="tx1"/>
                </a:solidFill>
              </a:rPr>
              <a:t>REFERÊNCIAS BIBLIOGRÁFICAS</a:t>
            </a:r>
          </a:p>
          <a:p>
            <a:pPr algn="just">
              <a:spcBef>
                <a:spcPts val="0"/>
              </a:spcBef>
            </a:pPr>
            <a:endParaRPr lang="pt-BR" sz="2800" b="1" dirty="0">
              <a:solidFill>
                <a:schemeClr val="tx1"/>
              </a:solidFill>
            </a:endParaRPr>
          </a:p>
          <a:p>
            <a:pPr algn="just">
              <a:spcBef>
                <a:spcPts val="0"/>
              </a:spcBef>
            </a:pPr>
            <a:r>
              <a:rPr lang="pt-BR" sz="3200" b="1" dirty="0">
                <a:solidFill>
                  <a:schemeClr val="tx1"/>
                </a:solidFill>
              </a:rPr>
              <a:t>1. </a:t>
            </a:r>
            <a:r>
              <a:rPr lang="en-US" sz="3200" b="1" dirty="0">
                <a:solidFill>
                  <a:schemeClr val="tx1"/>
                </a:solidFill>
              </a:rPr>
              <a:t>RUSSELL, Stuart; NORVIG, Peter. Artificial Intelligence: A Modern Approach. 3. ed. Prentice Hall, 2009.</a:t>
            </a:r>
          </a:p>
          <a:p>
            <a:pPr algn="just">
              <a:spcBef>
                <a:spcPts val="0"/>
              </a:spcBef>
            </a:pPr>
            <a:endParaRPr lang="pt-BR" sz="3200" b="1" dirty="0">
              <a:solidFill>
                <a:schemeClr val="tx1"/>
              </a:solidFill>
            </a:endParaRPr>
          </a:p>
          <a:p>
            <a:pPr algn="just">
              <a:spcBef>
                <a:spcPts val="0"/>
              </a:spcBef>
            </a:pPr>
            <a:r>
              <a:rPr lang="pt-BR" sz="3200" b="1" dirty="0">
                <a:solidFill>
                  <a:schemeClr val="tx1"/>
                </a:solidFill>
              </a:rPr>
              <a:t>2. DOCUMENTAÇÃO PYTHON. Classes e POO. Disponível em: python.org. Acesso em: nov. 2025.</a:t>
            </a:r>
            <a:endParaRPr lang="pt-BR" sz="3200" b="1" dirty="0">
              <a:solidFill>
                <a:schemeClr val="tx1"/>
              </a:solidFill>
              <a:ea typeface="Calibri"/>
              <a:cs typeface="Calibri"/>
            </a:endParaRPr>
          </a:p>
        </p:txBody>
      </p:sp>
      <p:pic>
        <p:nvPicPr>
          <p:cNvPr id="7" name="Imagem 6" descr="Diagrama&#10;&#10;O conteúdo gerado por IA pode estar incorreto.">
            <a:extLst>
              <a:ext uri="{FF2B5EF4-FFF2-40B4-BE49-F238E27FC236}">
                <a16:creationId xmlns:a16="http://schemas.microsoft.com/office/drawing/2014/main" id="{DE0425B4-4BBE-4119-F4E3-54908A697293}"/>
              </a:ext>
            </a:extLst>
          </p:cNvPr>
          <p:cNvPicPr>
            <a:picLocks noChangeAspect="1"/>
          </p:cNvPicPr>
          <p:nvPr/>
        </p:nvPicPr>
        <p:blipFill>
          <a:blip r:embed="rId2"/>
          <a:stretch>
            <a:fillRect/>
          </a:stretch>
        </p:blipFill>
        <p:spPr>
          <a:xfrm>
            <a:off x="23891884" y="692779"/>
            <a:ext cx="7724775" cy="3553028"/>
          </a:xfrm>
          <a:prstGeom prst="rect">
            <a:avLst/>
          </a:prstGeom>
        </p:spPr>
      </p:pic>
      <p:pic>
        <p:nvPicPr>
          <p:cNvPr id="11" name="Imagem 10">
            <a:extLst>
              <a:ext uri="{FF2B5EF4-FFF2-40B4-BE49-F238E27FC236}">
                <a16:creationId xmlns:a16="http://schemas.microsoft.com/office/drawing/2014/main" id="{16012876-1C84-8DE5-9B13-5905E424B1C3}"/>
              </a:ext>
            </a:extLst>
          </p:cNvPr>
          <p:cNvPicPr>
            <a:picLocks noChangeAspect="1"/>
          </p:cNvPicPr>
          <p:nvPr/>
        </p:nvPicPr>
        <p:blipFill>
          <a:blip r:embed="rId3"/>
          <a:stretch>
            <a:fillRect/>
          </a:stretch>
        </p:blipFill>
        <p:spPr>
          <a:xfrm>
            <a:off x="874034" y="1299271"/>
            <a:ext cx="10612836" cy="2368923"/>
          </a:xfrm>
          <a:prstGeom prst="rect">
            <a:avLst/>
          </a:prstGeom>
        </p:spPr>
      </p:pic>
      <p:pic>
        <p:nvPicPr>
          <p:cNvPr id="14" name="Imagem 13">
            <a:extLst>
              <a:ext uri="{FF2B5EF4-FFF2-40B4-BE49-F238E27FC236}">
                <a16:creationId xmlns:a16="http://schemas.microsoft.com/office/drawing/2014/main" id="{2E4BE876-D71F-1D5D-3624-DE8DB2336A54}"/>
              </a:ext>
            </a:extLst>
          </p:cNvPr>
          <p:cNvPicPr>
            <a:picLocks noChangeAspect="1"/>
          </p:cNvPicPr>
          <p:nvPr/>
        </p:nvPicPr>
        <p:blipFill>
          <a:blip r:embed="rId4"/>
          <a:stretch>
            <a:fillRect/>
          </a:stretch>
        </p:blipFill>
        <p:spPr>
          <a:xfrm>
            <a:off x="16295417" y="24702928"/>
            <a:ext cx="15192934" cy="8329851"/>
          </a:xfrm>
          <a:prstGeom prst="rect">
            <a:avLst/>
          </a:prstGeom>
        </p:spPr>
      </p:pic>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795</TotalTime>
  <Words>1061</Words>
  <Application>Microsoft Office PowerPoint</Application>
  <PresentationFormat>Personalizar</PresentationFormat>
  <Paragraphs>38</Paragraphs>
  <Slides>1</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vt:i4>
      </vt:variant>
    </vt:vector>
  </HeadingPairs>
  <TitlesOfParts>
    <vt:vector size="5" baseType="lpstr">
      <vt:lpstr>Arial</vt:lpstr>
      <vt:lpstr>Calibri</vt:lpstr>
      <vt:lpstr>Times New Roman</vt:lpstr>
      <vt:lpstr>Tema do Office</vt:lpstr>
      <vt:lpstr>  JOGO DA VELHA COM IA Trabalho A3 - Inteligência Artificial DESENVOLVIMENTO DE AGENTE INTELIGENTE PARA JOGO DA VELHA UTILIZANDO PROGRAMAÇÃO ORIENTADA OBJETO  Arthur Santos Araújo; Gabriel Santos Rocha; Matheus Barbosa Costa; Rubem Matheus Vieira Martins.  Universidade Salvador – Salvador – BA – Brasil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on the Beach 2011</dc:title>
  <dc:creator>Tristao</dc:creator>
  <cp:lastModifiedBy>Arthur Araujo</cp:lastModifiedBy>
  <cp:revision>153</cp:revision>
  <dcterms:created xsi:type="dcterms:W3CDTF">2011-04-07T11:05:01Z</dcterms:created>
  <dcterms:modified xsi:type="dcterms:W3CDTF">2025-11-22T00:49:01Z</dcterms:modified>
</cp:coreProperties>
</file>