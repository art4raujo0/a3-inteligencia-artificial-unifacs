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4"/>
  </p:sldMasterIdLst>
  <p:sldIdLst>
    <p:sldId id="256" r:id="rId5"/>
  </p:sldIdLst>
  <p:sldSz cx="32404050" cy="43205400"/>
  <p:notesSz cx="6858000" cy="9144000"/>
  <p:defaultTextStyle>
    <a:defPPr lvl="0">
      <a:defRPr lang="pt-BR"/>
    </a:defPPr>
    <a:lvl1pPr marL="0" lvl="0" algn="l" defTabSz="4320540" rtl="0" eaLnBrk="1" latinLnBrk="0" hangingPunct="1">
      <a:defRPr sz="8500" kern="1200">
        <a:solidFill>
          <a:schemeClr val="tx1"/>
        </a:solidFill>
        <a:latin typeface="+mn-lt"/>
        <a:ea typeface="+mn-ea"/>
        <a:cs typeface="+mn-cs"/>
      </a:defRPr>
    </a:lvl1pPr>
    <a:lvl2pPr marL="2160270" lvl="1" algn="l" defTabSz="4320540" rtl="0" eaLnBrk="1" latinLnBrk="0" hangingPunct="1">
      <a:defRPr sz="8500" kern="1200">
        <a:solidFill>
          <a:schemeClr val="tx1"/>
        </a:solidFill>
        <a:latin typeface="+mn-lt"/>
        <a:ea typeface="+mn-ea"/>
        <a:cs typeface="+mn-cs"/>
      </a:defRPr>
    </a:lvl2pPr>
    <a:lvl3pPr marL="4320540" lvl="2" algn="l" defTabSz="4320540" rtl="0" eaLnBrk="1" latinLnBrk="0" hangingPunct="1">
      <a:defRPr sz="8500" kern="1200">
        <a:solidFill>
          <a:schemeClr val="tx1"/>
        </a:solidFill>
        <a:latin typeface="+mn-lt"/>
        <a:ea typeface="+mn-ea"/>
        <a:cs typeface="+mn-cs"/>
      </a:defRPr>
    </a:lvl3pPr>
    <a:lvl4pPr marL="6480810" lvl="3" algn="l" defTabSz="4320540" rtl="0" eaLnBrk="1" latinLnBrk="0" hangingPunct="1">
      <a:defRPr sz="8500" kern="1200">
        <a:solidFill>
          <a:schemeClr val="tx1"/>
        </a:solidFill>
        <a:latin typeface="+mn-lt"/>
        <a:ea typeface="+mn-ea"/>
        <a:cs typeface="+mn-cs"/>
      </a:defRPr>
    </a:lvl4pPr>
    <a:lvl5pPr marL="8641080" lvl="4" algn="l" defTabSz="4320540" rtl="0" eaLnBrk="1" latinLnBrk="0" hangingPunct="1">
      <a:defRPr sz="8500" kern="1200">
        <a:solidFill>
          <a:schemeClr val="tx1"/>
        </a:solidFill>
        <a:latin typeface="+mn-lt"/>
        <a:ea typeface="+mn-ea"/>
        <a:cs typeface="+mn-cs"/>
      </a:defRPr>
    </a:lvl5pPr>
    <a:lvl6pPr marL="10801350" lvl="5" algn="l" defTabSz="4320540" rtl="0" eaLnBrk="1" latinLnBrk="0" hangingPunct="1">
      <a:defRPr sz="8500" kern="1200">
        <a:solidFill>
          <a:schemeClr val="tx1"/>
        </a:solidFill>
        <a:latin typeface="+mn-lt"/>
        <a:ea typeface="+mn-ea"/>
        <a:cs typeface="+mn-cs"/>
      </a:defRPr>
    </a:lvl6pPr>
    <a:lvl7pPr marL="12961620" lvl="6" algn="l" defTabSz="4320540" rtl="0" eaLnBrk="1" latinLnBrk="0" hangingPunct="1">
      <a:defRPr sz="8500" kern="1200">
        <a:solidFill>
          <a:schemeClr val="tx1"/>
        </a:solidFill>
        <a:latin typeface="+mn-lt"/>
        <a:ea typeface="+mn-ea"/>
        <a:cs typeface="+mn-cs"/>
      </a:defRPr>
    </a:lvl7pPr>
    <a:lvl8pPr marL="15121890" lvl="7" algn="l" defTabSz="4320540" rtl="0" eaLnBrk="1" latinLnBrk="0" hangingPunct="1">
      <a:defRPr sz="8500" kern="1200">
        <a:solidFill>
          <a:schemeClr val="tx1"/>
        </a:solidFill>
        <a:latin typeface="+mn-lt"/>
        <a:ea typeface="+mn-ea"/>
        <a:cs typeface="+mn-cs"/>
      </a:defRPr>
    </a:lvl8pPr>
    <a:lvl9pPr marL="17282160" lvl="8" algn="l" defTabSz="4320540" rtl="0" eaLnBrk="1" latinLnBrk="0" hangingPunct="1">
      <a:defRPr sz="85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608">
          <p15:clr>
            <a:srgbClr val="A4A3A4"/>
          </p15:clr>
        </p15:guide>
        <p15:guide id="2" pos="1020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651C3A-4460-11DB-9652-00E08161165F}">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25" d="100"/>
          <a:sy n="25" d="100"/>
        </p:scale>
        <p:origin x="1277" y="-2462"/>
      </p:cViewPr>
      <p:guideLst>
        <p:guide orient="horz" pos="13608"/>
        <p:guide pos="10206"/>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ide de título">
    <p:bg>
      <p:bgRef idx="1001">
        <a:schemeClr val="bg1"/>
      </p:bgRef>
    </p:bg>
    <p:spTree>
      <p:nvGrpSpPr>
        <p:cNvPr id="1" name=""/>
        <p:cNvGrpSpPr/>
        <p:nvPr/>
      </p:nvGrpSpPr>
      <p:grpSpPr>
        <a:xfrm>
          <a:off x="0" y="0"/>
          <a:ext cx="0" cy="0"/>
          <a:chOff x="0" y="0"/>
          <a:chExt cx="0" cy="0"/>
        </a:xfrm>
      </p:grpSpPr>
      <p:sp>
        <p:nvSpPr>
          <p:cNvPr id="2" name="Título 1"/>
          <p:cNvSpPr>
            <a:spLocks noGrp="1"/>
          </p:cNvSpPr>
          <p:nvPr>
            <p:ph type="ctrTitle"/>
          </p:nvPr>
        </p:nvSpPr>
        <p:spPr>
          <a:xfrm>
            <a:off x="2430304" y="13421680"/>
            <a:ext cx="27543443" cy="9261158"/>
          </a:xfrm>
        </p:spPr>
        <p:txBody>
          <a:bodyPr/>
          <a:lstStyle/>
          <a:p>
            <a:r>
              <a:rPr lang="pt-BR"/>
              <a:t>Clique para editar o estilo do título mestre</a:t>
            </a:r>
          </a:p>
        </p:txBody>
      </p:sp>
      <p:sp>
        <p:nvSpPr>
          <p:cNvPr id="3" name="Subtítulo 2"/>
          <p:cNvSpPr>
            <a:spLocks noGrp="1"/>
          </p:cNvSpPr>
          <p:nvPr>
            <p:ph type="subTitle" idx="1"/>
          </p:nvPr>
        </p:nvSpPr>
        <p:spPr>
          <a:xfrm>
            <a:off x="4860608" y="24483060"/>
            <a:ext cx="22682835" cy="11041380"/>
          </a:xfrm>
        </p:spPr>
        <p:txBody>
          <a:bodyPr/>
          <a:lstStyle>
            <a:lvl1pPr marL="0" indent="0" algn="ctr">
              <a:buNone/>
              <a:defRPr>
                <a:solidFill>
                  <a:schemeClr val="tx1">
                    <a:tint val="75000"/>
                  </a:schemeClr>
                </a:solidFill>
              </a:defRPr>
            </a:lvl1pPr>
            <a:lvl2pPr marL="2160270" indent="0" algn="ctr">
              <a:buNone/>
              <a:defRPr>
                <a:solidFill>
                  <a:schemeClr val="tx1">
                    <a:tint val="75000"/>
                  </a:schemeClr>
                </a:solidFill>
              </a:defRPr>
            </a:lvl2pPr>
            <a:lvl3pPr marL="4320540" indent="0" algn="ctr">
              <a:buNone/>
              <a:defRPr>
                <a:solidFill>
                  <a:schemeClr val="tx1">
                    <a:tint val="75000"/>
                  </a:schemeClr>
                </a:solidFill>
              </a:defRPr>
            </a:lvl3pPr>
            <a:lvl4pPr marL="6480810" indent="0" algn="ctr">
              <a:buNone/>
              <a:defRPr>
                <a:solidFill>
                  <a:schemeClr val="tx1">
                    <a:tint val="75000"/>
                  </a:schemeClr>
                </a:solidFill>
              </a:defRPr>
            </a:lvl4pPr>
            <a:lvl5pPr marL="8641080" indent="0" algn="ctr">
              <a:buNone/>
              <a:defRPr>
                <a:solidFill>
                  <a:schemeClr val="tx1">
                    <a:tint val="75000"/>
                  </a:schemeClr>
                </a:solidFill>
              </a:defRPr>
            </a:lvl5pPr>
            <a:lvl6pPr marL="10801350" indent="0" algn="ctr">
              <a:buNone/>
              <a:defRPr>
                <a:solidFill>
                  <a:schemeClr val="tx1">
                    <a:tint val="75000"/>
                  </a:schemeClr>
                </a:solidFill>
              </a:defRPr>
            </a:lvl6pPr>
            <a:lvl7pPr marL="12961620" indent="0" algn="ctr">
              <a:buNone/>
              <a:defRPr>
                <a:solidFill>
                  <a:schemeClr val="tx1">
                    <a:tint val="75000"/>
                  </a:schemeClr>
                </a:solidFill>
              </a:defRPr>
            </a:lvl7pPr>
            <a:lvl8pPr marL="15121890" indent="0" algn="ctr">
              <a:buNone/>
              <a:defRPr>
                <a:solidFill>
                  <a:schemeClr val="tx1">
                    <a:tint val="75000"/>
                  </a:schemeClr>
                </a:solidFill>
              </a:defRPr>
            </a:lvl8pPr>
            <a:lvl9pPr marL="17282160" indent="0" algn="ctr">
              <a:buNone/>
              <a:defRPr>
                <a:solidFill>
                  <a:schemeClr val="tx1">
                    <a:tint val="75000"/>
                  </a:schemeClr>
                </a:solidFill>
              </a:defRPr>
            </a:lvl9pPr>
          </a:lstStyle>
          <a:p>
            <a:r>
              <a:rPr lang="pt-BR"/>
              <a:t>Clique para editar o estilo do subtítulo mestre</a:t>
            </a:r>
          </a:p>
        </p:txBody>
      </p:sp>
      <p:sp>
        <p:nvSpPr>
          <p:cNvPr id="4" name="Espaço Reservado para Data 3"/>
          <p:cNvSpPr>
            <a:spLocks noGrp="1"/>
          </p:cNvSpPr>
          <p:nvPr>
            <p:ph type="dt" sz="half" idx="10"/>
          </p:nvPr>
        </p:nvSpPr>
        <p:spPr/>
        <p:txBody>
          <a:bodyPr/>
          <a:lstStyle/>
          <a:p>
            <a:fld id="{B34088D9-6F99-4774-8F18-D88D64460132}" type="datetimeFigureOut">
              <a:rPr lang="pt-BR" smtClean="0"/>
              <a:pPr/>
              <a:t>17/11/2025</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A43A5AF6-92C6-4656-8B3D-FE2340DD8210}" type="slidenum">
              <a:rPr lang="pt-BR" smtClean="0"/>
              <a:pPr/>
              <a:t>‹nº›</a:t>
            </a:fld>
            <a:endParaRPr lang="pt-BR"/>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Mod val="20000"/>
            <a:lumOff val="80000"/>
            <a:alpha val="24000"/>
          </a:schemeClr>
        </a:solidFill>
        <a:effectLst/>
      </p:bgPr>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1620203" y="1730219"/>
            <a:ext cx="29163645" cy="7200900"/>
          </a:xfrm>
          <a:prstGeom prst="rect">
            <a:avLst/>
          </a:prstGeom>
        </p:spPr>
        <p:txBody>
          <a:bodyPr vert="horz" lIns="432054" tIns="216027" rIns="432054" bIns="216027" rtlCol="0" anchor="ctr">
            <a:normAutofit/>
          </a:bodyPr>
          <a:lstStyle/>
          <a:p>
            <a:r>
              <a:rPr lang="pt-BR"/>
              <a:t>Clique para editar o estilo do título mestre</a:t>
            </a:r>
          </a:p>
        </p:txBody>
      </p:sp>
      <p:sp>
        <p:nvSpPr>
          <p:cNvPr id="3" name="Espaço Reservado para Texto 2"/>
          <p:cNvSpPr>
            <a:spLocks noGrp="1"/>
          </p:cNvSpPr>
          <p:nvPr>
            <p:ph type="body" idx="1"/>
          </p:nvPr>
        </p:nvSpPr>
        <p:spPr>
          <a:xfrm>
            <a:off x="1620203" y="10081263"/>
            <a:ext cx="29163645" cy="28513567"/>
          </a:xfrm>
          <a:prstGeom prst="rect">
            <a:avLst/>
          </a:prstGeom>
        </p:spPr>
        <p:txBody>
          <a:bodyPr vert="horz" lIns="432054" tIns="216027" rIns="432054" bIns="216027" rtlCol="0">
            <a:normAutofit/>
          </a:body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p:cNvSpPr>
            <a:spLocks noGrp="1"/>
          </p:cNvSpPr>
          <p:nvPr>
            <p:ph type="dt" sz="half" idx="2"/>
          </p:nvPr>
        </p:nvSpPr>
        <p:spPr>
          <a:xfrm>
            <a:off x="1620203" y="40045008"/>
            <a:ext cx="7560945" cy="2300288"/>
          </a:xfrm>
          <a:prstGeom prst="rect">
            <a:avLst/>
          </a:prstGeom>
        </p:spPr>
        <p:txBody>
          <a:bodyPr vert="horz" lIns="432054" tIns="216027" rIns="432054" bIns="216027" rtlCol="0" anchor="ctr"/>
          <a:lstStyle>
            <a:lvl1pPr algn="l">
              <a:defRPr sz="5700">
                <a:solidFill>
                  <a:schemeClr val="tx1">
                    <a:tint val="75000"/>
                  </a:schemeClr>
                </a:solidFill>
              </a:defRPr>
            </a:lvl1pPr>
          </a:lstStyle>
          <a:p>
            <a:fld id="{B34088D9-6F99-4774-8F18-D88D64460132}" type="datetimeFigureOut">
              <a:rPr lang="pt-BR" smtClean="0"/>
              <a:pPr/>
              <a:t>17/11/2025</a:t>
            </a:fld>
            <a:endParaRPr lang="pt-BR"/>
          </a:p>
        </p:txBody>
      </p:sp>
      <p:sp>
        <p:nvSpPr>
          <p:cNvPr id="5" name="Espaço Reservado para Rodapé 4"/>
          <p:cNvSpPr>
            <a:spLocks noGrp="1"/>
          </p:cNvSpPr>
          <p:nvPr>
            <p:ph type="ftr" sz="quarter" idx="3"/>
          </p:nvPr>
        </p:nvSpPr>
        <p:spPr>
          <a:xfrm>
            <a:off x="11071384" y="40045008"/>
            <a:ext cx="10261283" cy="2300288"/>
          </a:xfrm>
          <a:prstGeom prst="rect">
            <a:avLst/>
          </a:prstGeom>
        </p:spPr>
        <p:txBody>
          <a:bodyPr vert="horz" lIns="432054" tIns="216027" rIns="432054" bIns="216027" rtlCol="0" anchor="ctr"/>
          <a:lstStyle>
            <a:lvl1pPr algn="ctr">
              <a:defRPr sz="5700">
                <a:solidFill>
                  <a:schemeClr val="tx1">
                    <a:tint val="75000"/>
                  </a:schemeClr>
                </a:solidFill>
              </a:defRPr>
            </a:lvl1pPr>
          </a:lstStyle>
          <a:p>
            <a:endParaRPr lang="pt-BR"/>
          </a:p>
        </p:txBody>
      </p:sp>
      <p:sp>
        <p:nvSpPr>
          <p:cNvPr id="6" name="Espaço Reservado para Número de Slide 5"/>
          <p:cNvSpPr>
            <a:spLocks noGrp="1"/>
          </p:cNvSpPr>
          <p:nvPr>
            <p:ph type="sldNum" sz="quarter" idx="4"/>
          </p:nvPr>
        </p:nvSpPr>
        <p:spPr>
          <a:xfrm>
            <a:off x="23222903" y="40045008"/>
            <a:ext cx="7560945" cy="2300288"/>
          </a:xfrm>
          <a:prstGeom prst="rect">
            <a:avLst/>
          </a:prstGeom>
        </p:spPr>
        <p:txBody>
          <a:bodyPr vert="horz" lIns="432054" tIns="216027" rIns="432054" bIns="216027" rtlCol="0" anchor="ctr"/>
          <a:lstStyle>
            <a:lvl1pPr algn="r">
              <a:defRPr sz="5700">
                <a:solidFill>
                  <a:schemeClr val="tx1">
                    <a:tint val="75000"/>
                  </a:schemeClr>
                </a:solidFill>
              </a:defRPr>
            </a:lvl1pPr>
          </a:lstStyle>
          <a:p>
            <a:fld id="{A43A5AF6-92C6-4656-8B3D-FE2340DD8210}" type="slidenum">
              <a:rPr lang="pt-BR" smtClean="0"/>
              <a:pPr/>
              <a:t>‹nº›</a:t>
            </a:fld>
            <a:endParaRPr lang="pt-B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ctr" defTabSz="4320540" rtl="0" eaLnBrk="1" latinLnBrk="0" hangingPunct="1">
        <a:spcBef>
          <a:spcPct val="0"/>
        </a:spcBef>
        <a:buNone/>
        <a:defRPr sz="20800" kern="1200">
          <a:solidFill>
            <a:schemeClr val="tx1"/>
          </a:solidFill>
          <a:latin typeface="+mj-lt"/>
          <a:ea typeface="+mj-ea"/>
          <a:cs typeface="+mj-cs"/>
        </a:defRPr>
      </a:lvl1pPr>
    </p:titleStyle>
    <p:bodyStyle>
      <a:lvl1pPr marL="1620203" indent="-1620203" algn="l" defTabSz="4320540" rtl="0" eaLnBrk="1" latinLnBrk="0" hangingPunct="1">
        <a:spcBef>
          <a:spcPct val="20000"/>
        </a:spcBef>
        <a:buFont typeface="Arial" pitchFamily="34" charset="0"/>
        <a:buChar char="•"/>
        <a:defRPr sz="15100" kern="1200">
          <a:solidFill>
            <a:schemeClr val="tx1"/>
          </a:solidFill>
          <a:latin typeface="+mn-lt"/>
          <a:ea typeface="+mn-ea"/>
          <a:cs typeface="+mn-cs"/>
        </a:defRPr>
      </a:lvl1pPr>
      <a:lvl2pPr marL="3510439" indent="-1350169" algn="l" defTabSz="4320540" rtl="0" eaLnBrk="1" latinLnBrk="0" hangingPunct="1">
        <a:spcBef>
          <a:spcPct val="20000"/>
        </a:spcBef>
        <a:buFont typeface="Arial" pitchFamily="34" charset="0"/>
        <a:buChar char="–"/>
        <a:defRPr sz="13200" kern="1200">
          <a:solidFill>
            <a:schemeClr val="tx1"/>
          </a:solidFill>
          <a:latin typeface="+mn-lt"/>
          <a:ea typeface="+mn-ea"/>
          <a:cs typeface="+mn-cs"/>
        </a:defRPr>
      </a:lvl2pPr>
      <a:lvl3pPr marL="5400675" indent="-1080135" algn="l" defTabSz="4320540" rtl="0" eaLnBrk="1" latinLnBrk="0" hangingPunct="1">
        <a:spcBef>
          <a:spcPct val="20000"/>
        </a:spcBef>
        <a:buFont typeface="Arial" pitchFamily="34" charset="0"/>
        <a:buChar char="•"/>
        <a:defRPr sz="11300" kern="1200">
          <a:solidFill>
            <a:schemeClr val="tx1"/>
          </a:solidFill>
          <a:latin typeface="+mn-lt"/>
          <a:ea typeface="+mn-ea"/>
          <a:cs typeface="+mn-cs"/>
        </a:defRPr>
      </a:lvl3pPr>
      <a:lvl4pPr marL="756094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4pPr>
      <a:lvl5pPr marL="972121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5pPr>
      <a:lvl6pPr marL="1188148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6pPr>
      <a:lvl7pPr marL="1404175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7pPr>
      <a:lvl8pPr marL="1620202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8pPr>
      <a:lvl9pPr marL="1836229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9pPr>
    </p:bodyStyle>
    <p:otherStyle>
      <a:defPPr>
        <a:defRPr lang="pt-BR"/>
      </a:defPPr>
      <a:lvl1pPr marL="0" algn="l" defTabSz="4320540" rtl="0" eaLnBrk="1" latinLnBrk="0" hangingPunct="1">
        <a:defRPr sz="8500" kern="1200">
          <a:solidFill>
            <a:schemeClr val="tx1"/>
          </a:solidFill>
          <a:latin typeface="+mn-lt"/>
          <a:ea typeface="+mn-ea"/>
          <a:cs typeface="+mn-cs"/>
        </a:defRPr>
      </a:lvl1pPr>
      <a:lvl2pPr marL="2160270" algn="l" defTabSz="4320540" rtl="0" eaLnBrk="1" latinLnBrk="0" hangingPunct="1">
        <a:defRPr sz="8500" kern="1200">
          <a:solidFill>
            <a:schemeClr val="tx1"/>
          </a:solidFill>
          <a:latin typeface="+mn-lt"/>
          <a:ea typeface="+mn-ea"/>
          <a:cs typeface="+mn-cs"/>
        </a:defRPr>
      </a:lvl2pPr>
      <a:lvl3pPr marL="4320540" algn="l" defTabSz="4320540" rtl="0" eaLnBrk="1" latinLnBrk="0" hangingPunct="1">
        <a:defRPr sz="8500" kern="1200">
          <a:solidFill>
            <a:schemeClr val="tx1"/>
          </a:solidFill>
          <a:latin typeface="+mn-lt"/>
          <a:ea typeface="+mn-ea"/>
          <a:cs typeface="+mn-cs"/>
        </a:defRPr>
      </a:lvl3pPr>
      <a:lvl4pPr marL="6480810" algn="l" defTabSz="4320540" rtl="0" eaLnBrk="1" latinLnBrk="0" hangingPunct="1">
        <a:defRPr sz="8500" kern="1200">
          <a:solidFill>
            <a:schemeClr val="tx1"/>
          </a:solidFill>
          <a:latin typeface="+mn-lt"/>
          <a:ea typeface="+mn-ea"/>
          <a:cs typeface="+mn-cs"/>
        </a:defRPr>
      </a:lvl4pPr>
      <a:lvl5pPr marL="8641080" algn="l" defTabSz="4320540" rtl="0" eaLnBrk="1" latinLnBrk="0" hangingPunct="1">
        <a:defRPr sz="8500" kern="1200">
          <a:solidFill>
            <a:schemeClr val="tx1"/>
          </a:solidFill>
          <a:latin typeface="+mn-lt"/>
          <a:ea typeface="+mn-ea"/>
          <a:cs typeface="+mn-cs"/>
        </a:defRPr>
      </a:lvl5pPr>
      <a:lvl6pPr marL="10801350" algn="l" defTabSz="4320540" rtl="0" eaLnBrk="1" latinLnBrk="0" hangingPunct="1">
        <a:defRPr sz="8500" kern="1200">
          <a:solidFill>
            <a:schemeClr val="tx1"/>
          </a:solidFill>
          <a:latin typeface="+mn-lt"/>
          <a:ea typeface="+mn-ea"/>
          <a:cs typeface="+mn-cs"/>
        </a:defRPr>
      </a:lvl6pPr>
      <a:lvl7pPr marL="12961620" algn="l" defTabSz="4320540" rtl="0" eaLnBrk="1" latinLnBrk="0" hangingPunct="1">
        <a:defRPr sz="8500" kern="1200">
          <a:solidFill>
            <a:schemeClr val="tx1"/>
          </a:solidFill>
          <a:latin typeface="+mn-lt"/>
          <a:ea typeface="+mn-ea"/>
          <a:cs typeface="+mn-cs"/>
        </a:defRPr>
      </a:lvl7pPr>
      <a:lvl8pPr marL="15121890" algn="l" defTabSz="4320540" rtl="0" eaLnBrk="1" latinLnBrk="0" hangingPunct="1">
        <a:defRPr sz="8500" kern="1200">
          <a:solidFill>
            <a:schemeClr val="tx1"/>
          </a:solidFill>
          <a:latin typeface="+mn-lt"/>
          <a:ea typeface="+mn-ea"/>
          <a:cs typeface="+mn-cs"/>
        </a:defRPr>
      </a:lvl8pPr>
      <a:lvl9pPr marL="17282160" algn="l" defTabSz="4320540" rtl="0" eaLnBrk="1" latinLnBrk="0" hangingPunct="1">
        <a:defRPr sz="8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alpha val="24000"/>
          </a:schemeClr>
        </a:solidFill>
        <a:effectLst/>
      </p:bgPr>
    </p:bg>
    <p:spTree>
      <p:nvGrpSpPr>
        <p:cNvPr id="1" name=""/>
        <p:cNvGrpSpPr/>
        <p:nvPr/>
      </p:nvGrpSpPr>
      <p:grpSpPr>
        <a:xfrm>
          <a:off x="0" y="0"/>
          <a:ext cx="0" cy="0"/>
          <a:chOff x="0" y="0"/>
          <a:chExt cx="0" cy="0"/>
        </a:xfrm>
      </p:grpSpPr>
      <p:sp>
        <p:nvSpPr>
          <p:cNvPr id="9" name="Retângulo 8"/>
          <p:cNvSpPr/>
          <p:nvPr/>
        </p:nvSpPr>
        <p:spPr>
          <a:xfrm>
            <a:off x="-8813" y="-748664"/>
            <a:ext cx="32412863" cy="43205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 name="Título 1"/>
          <p:cNvSpPr>
            <a:spLocks noGrp="1"/>
          </p:cNvSpPr>
          <p:nvPr>
            <p:ph type="ctrTitle"/>
          </p:nvPr>
        </p:nvSpPr>
        <p:spPr>
          <a:xfrm>
            <a:off x="874034" y="4679098"/>
            <a:ext cx="30749932" cy="5790796"/>
          </a:xfrm>
        </p:spPr>
        <p:txBody>
          <a:bodyPr>
            <a:normAutofit fontScale="90000"/>
          </a:bodyPr>
          <a:lstStyle/>
          <a:p>
            <a:pPr hangingPunct="0"/>
            <a:r>
              <a:rPr lang="pt-BR" sz="8800" b="1" dirty="0">
                <a:latin typeface="Times New Roman" panose="02020603050405020304" pitchFamily="18" charset="0"/>
                <a:cs typeface="Times New Roman" panose="02020603050405020304" pitchFamily="18" charset="0"/>
              </a:rPr>
              <a:t>JOGO DA VELHA COM IA</a:t>
            </a:r>
            <a:br>
              <a:rPr lang="pt-BR" sz="8800" b="1" dirty="0">
                <a:latin typeface="Times New Roman" panose="02020603050405020304" pitchFamily="18" charset="0"/>
                <a:cs typeface="Times New Roman" panose="02020603050405020304" pitchFamily="18" charset="0"/>
              </a:rPr>
            </a:br>
            <a:r>
              <a:rPr lang="pt-BR" sz="8800" b="1" dirty="0">
                <a:latin typeface="Times New Roman" panose="02020603050405020304" pitchFamily="18" charset="0"/>
                <a:cs typeface="Times New Roman" panose="02020603050405020304" pitchFamily="18" charset="0"/>
              </a:rPr>
              <a:t> Trabalho A3 - Inteligência Artificial</a:t>
            </a:r>
            <a:br>
              <a:rPr lang="pt-BR" sz="8800" b="1" dirty="0">
                <a:latin typeface="Times New Roman" panose="02020603050405020304" pitchFamily="18" charset="0"/>
                <a:cs typeface="Times New Roman" panose="02020603050405020304" pitchFamily="18" charset="0"/>
              </a:rPr>
            </a:br>
            <a:r>
              <a:rPr lang="pt-BR" sz="3100" b="1" dirty="0"/>
              <a:t>DESENVOLVIMENTO DE AGENTE INTELIGENTE PARA JOGO DA VELHA UTILIZANDO PROGRAMAÇÃO ORIENTADA OBJETO</a:t>
            </a:r>
            <a:br>
              <a:rPr lang="pt-BR" sz="5400" b="1" dirty="0">
                <a:latin typeface="Times New Roman" panose="02020603050405020304" pitchFamily="18" charset="0"/>
                <a:cs typeface="Times New Roman" panose="02020603050405020304" pitchFamily="18" charset="0"/>
              </a:rPr>
            </a:br>
            <a:br>
              <a:rPr lang="pt-BR" sz="4400" b="1" dirty="0">
                <a:latin typeface="Times New Roman" panose="02020603050405020304" pitchFamily="18" charset="0"/>
                <a:cs typeface="Times New Roman" panose="02020603050405020304" pitchFamily="18" charset="0"/>
              </a:rPr>
            </a:br>
            <a:r>
              <a:rPr lang="pt-BR" sz="4400" b="1" dirty="0">
                <a:latin typeface="Times New Roman" panose="02020603050405020304" pitchFamily="18" charset="0"/>
                <a:cs typeface="Times New Roman" panose="02020603050405020304" pitchFamily="18" charset="0"/>
              </a:rPr>
              <a:t>Arthur Santos Araújo- 12725166488;</a:t>
            </a:r>
            <a:br>
              <a:rPr lang="pt-BR" sz="4400" b="1" dirty="0">
                <a:latin typeface="Times New Roman" panose="02020603050405020304" pitchFamily="18" charset="0"/>
                <a:cs typeface="Times New Roman" panose="02020603050405020304" pitchFamily="18" charset="0"/>
              </a:rPr>
            </a:br>
            <a:r>
              <a:rPr lang="pt-BR" sz="4400" b="1" dirty="0">
                <a:latin typeface="Times New Roman" panose="02020603050405020304" pitchFamily="18" charset="0"/>
                <a:cs typeface="Times New Roman" panose="02020603050405020304" pitchFamily="18" charset="0"/>
              </a:rPr>
              <a:t>Gabriel Santos Rocha– 1272328504;</a:t>
            </a:r>
            <a:br>
              <a:rPr lang="pt-BR" sz="4400" b="1" dirty="0">
                <a:latin typeface="Times New Roman" panose="02020603050405020304" pitchFamily="18" charset="0"/>
                <a:cs typeface="Times New Roman" panose="02020603050405020304" pitchFamily="18" charset="0"/>
              </a:rPr>
            </a:br>
            <a:r>
              <a:rPr lang="pt-BR" sz="4400" b="1" dirty="0">
                <a:latin typeface="Times New Roman" panose="02020603050405020304" pitchFamily="18" charset="0"/>
                <a:cs typeface="Times New Roman" panose="02020603050405020304" pitchFamily="18" charset="0"/>
              </a:rPr>
              <a:t>Matheus Barbosa Costa - 12722118928;</a:t>
            </a:r>
            <a:br>
              <a:rPr lang="pt-BR" sz="4400" b="1" dirty="0">
                <a:latin typeface="Times New Roman" panose="02020603050405020304" pitchFamily="18" charset="0"/>
                <a:cs typeface="Times New Roman" panose="02020603050405020304" pitchFamily="18" charset="0"/>
              </a:rPr>
            </a:br>
            <a:r>
              <a:rPr lang="pt-BR" sz="4400" b="1" dirty="0">
                <a:latin typeface="Times New Roman" panose="02020603050405020304" pitchFamily="18" charset="0"/>
                <a:cs typeface="Times New Roman" panose="02020603050405020304" pitchFamily="18" charset="0"/>
              </a:rPr>
              <a:t>Rubem Matheus Vieira Martins - 1272216869.</a:t>
            </a:r>
            <a:br>
              <a:rPr lang="pt-BR" sz="4400" b="1" dirty="0">
                <a:latin typeface="Times New Roman" panose="02020603050405020304" pitchFamily="18" charset="0"/>
                <a:cs typeface="Times New Roman" panose="02020603050405020304" pitchFamily="18" charset="0"/>
              </a:rPr>
            </a:br>
            <a:br>
              <a:rPr lang="pt-BR" sz="4400" b="1" dirty="0">
                <a:latin typeface="Times New Roman" panose="02020603050405020304" pitchFamily="18" charset="0"/>
                <a:cs typeface="Times New Roman" panose="02020603050405020304" pitchFamily="18" charset="0"/>
              </a:rPr>
            </a:br>
            <a:r>
              <a:rPr lang="pt-BR" sz="4400" dirty="0">
                <a:latin typeface="Times New Roman" panose="02020603050405020304" pitchFamily="18" charset="0"/>
                <a:cs typeface="Times New Roman" panose="02020603050405020304" pitchFamily="18" charset="0"/>
              </a:rPr>
              <a:t>Universidade Salvador – Salvador – BA – Brasil</a:t>
            </a:r>
            <a:br>
              <a:rPr lang="pt-BR" sz="9600" dirty="0"/>
            </a:br>
            <a:endParaRPr lang="pt-BR" sz="4400" dirty="0"/>
          </a:p>
        </p:txBody>
      </p:sp>
      <p:sp>
        <p:nvSpPr>
          <p:cNvPr id="3" name="Subtítulo 2"/>
          <p:cNvSpPr>
            <a:spLocks noGrp="1"/>
          </p:cNvSpPr>
          <p:nvPr>
            <p:ph type="subTitle" idx="1"/>
          </p:nvPr>
        </p:nvSpPr>
        <p:spPr>
          <a:xfrm>
            <a:off x="696254" y="11970852"/>
            <a:ext cx="14785564" cy="26152594"/>
          </a:xfrm>
          <a:ln>
            <a:noFill/>
          </a:ln>
        </p:spPr>
        <p:txBody>
          <a:bodyPr vert="horz" lIns="432054" tIns="216027" rIns="432054" bIns="216027" rtlCol="0" anchor="t">
            <a:noAutofit/>
          </a:bodyPr>
          <a:lstStyle/>
          <a:p>
            <a:pPr algn="just">
              <a:spcBef>
                <a:spcPts val="0"/>
              </a:spcBef>
            </a:pPr>
            <a:r>
              <a:rPr lang="pt-BR" sz="6600" b="1" dirty="0">
                <a:solidFill>
                  <a:schemeClr val="tx1"/>
                </a:solidFill>
                <a:latin typeface="Times New Roman" panose="02020603050405020304" pitchFamily="18" charset="0"/>
                <a:cs typeface="Times New Roman" panose="02020603050405020304" pitchFamily="18" charset="0"/>
              </a:rPr>
              <a:t>INTRODUÇÃO</a:t>
            </a:r>
            <a:endParaRPr lang="pt-BR" sz="7500" b="1" dirty="0">
              <a:solidFill>
                <a:schemeClr val="tx1"/>
              </a:solidFill>
              <a:latin typeface="Times New Roman" panose="02020603050405020304" pitchFamily="18" charset="0"/>
              <a:cs typeface="Times New Roman" panose="02020603050405020304" pitchFamily="18" charset="0"/>
            </a:endParaRPr>
          </a:p>
          <a:p>
            <a:pPr algn="just">
              <a:lnSpc>
                <a:spcPct val="150000"/>
              </a:lnSpc>
            </a:pPr>
            <a:r>
              <a:rPr lang="pt-BR" sz="2800" dirty="0">
                <a:solidFill>
                  <a:schemeClr val="tx1"/>
                </a:solidFill>
                <a:latin typeface="Times New Roman" panose="02020603050405020304" pitchFamily="18" charset="0"/>
                <a:cs typeface="Times New Roman" panose="02020603050405020304" pitchFamily="18" charset="0"/>
              </a:rPr>
              <a:t>O Jogo da Velha é um problema clássico na área de Inteligência Artificial, caracterizado como um ambiente determinístico, de soma-zero e com informação perfeita. Embora aparente simplicidade, serve como excelente campo de provas para a modelagem de Agentes Racionais. Este projeto visa desenvolver uma aplicação onde um agente autônomo utiliza algoritmos de tomada de decisão para competir contra jogadores humanos. Diferente de implementações procedurais simples, este trabalho adota uma arquitetura robusta baseada em Programação Orientada a Objetos (POO), simulando a interação entre um Agente e seu Ambiente.</a:t>
            </a:r>
          </a:p>
          <a:p>
            <a:pPr algn="just">
              <a:spcBef>
                <a:spcPts val="0"/>
              </a:spcBef>
            </a:pPr>
            <a:r>
              <a:rPr lang="pt-BR" sz="6600" b="1" dirty="0">
                <a:solidFill>
                  <a:schemeClr val="tx1"/>
                </a:solidFill>
                <a:latin typeface="Times New Roman" panose="02020603050405020304" pitchFamily="18" charset="0"/>
                <a:cs typeface="Times New Roman" panose="02020603050405020304" pitchFamily="18" charset="0"/>
              </a:rPr>
              <a:t>OBJETIVO</a:t>
            </a:r>
            <a:endParaRPr lang="pt-BR" sz="7500" b="1" dirty="0">
              <a:solidFill>
                <a:schemeClr val="tx1"/>
              </a:solidFill>
              <a:latin typeface="Times New Roman" panose="02020603050405020304" pitchFamily="18" charset="0"/>
              <a:cs typeface="Times New Roman" panose="02020603050405020304" pitchFamily="18" charset="0"/>
            </a:endParaRPr>
          </a:p>
          <a:p>
            <a:pPr algn="just">
              <a:spcBef>
                <a:spcPts val="0"/>
              </a:spcBef>
            </a:pPr>
            <a:endParaRPr lang="pt-BR" sz="2800"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2800" b="1" dirty="0">
                <a:solidFill>
                  <a:schemeClr val="tx1"/>
                </a:solidFill>
                <a:latin typeface="Times New Roman" panose="02020603050405020304" pitchFamily="18" charset="0"/>
                <a:cs typeface="Times New Roman" panose="02020603050405020304" pitchFamily="18" charset="0"/>
              </a:rPr>
              <a:t>OBJETIVO GERAL:</a:t>
            </a:r>
          </a:p>
          <a:p>
            <a:pPr algn="just">
              <a:spcBef>
                <a:spcPts val="0"/>
              </a:spcBef>
            </a:pPr>
            <a:endParaRPr lang="pt-BR" sz="2800" b="1"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2800" b="1" dirty="0">
                <a:solidFill>
                  <a:schemeClr val="tx1"/>
                </a:solidFill>
                <a:latin typeface="Times New Roman" panose="02020603050405020304" pitchFamily="18" charset="0"/>
                <a:cs typeface="Times New Roman" panose="02020603050405020304" pitchFamily="18" charset="0"/>
              </a:rPr>
              <a:t>Desenvolver um agente de software capaz de jogar Jogo da Velha de forma competente, aplicando conceitos de IA simbólica e heurísticas de decisão.</a:t>
            </a:r>
          </a:p>
          <a:p>
            <a:pPr algn="just">
              <a:spcBef>
                <a:spcPts val="0"/>
              </a:spcBef>
            </a:pPr>
            <a:endParaRPr lang="pt-BR" sz="2800"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2800" b="1" dirty="0">
                <a:solidFill>
                  <a:schemeClr val="tx1"/>
                </a:solidFill>
                <a:latin typeface="Times New Roman" panose="02020603050405020304" pitchFamily="18" charset="0"/>
                <a:cs typeface="Times New Roman" panose="02020603050405020304" pitchFamily="18" charset="0"/>
              </a:rPr>
              <a:t>OBJETIVOS ESPECÍFICOS:</a:t>
            </a:r>
          </a:p>
          <a:p>
            <a:pPr algn="just">
              <a:spcBef>
                <a:spcPts val="0"/>
              </a:spcBef>
            </a:pPr>
            <a:r>
              <a:rPr lang="pt-BR" sz="2800" b="1" dirty="0">
                <a:solidFill>
                  <a:schemeClr val="tx1"/>
                </a:solidFill>
                <a:latin typeface="Times New Roman" panose="02020603050405020304" pitchFamily="18" charset="0"/>
                <a:cs typeface="Times New Roman" panose="02020603050405020304" pitchFamily="18" charset="0"/>
              </a:rPr>
              <a:t> </a:t>
            </a:r>
          </a:p>
          <a:p>
            <a:pPr algn="just">
              <a:spcBef>
                <a:spcPts val="0"/>
              </a:spcBef>
            </a:pPr>
            <a:r>
              <a:rPr lang="pt-BR" sz="2800" dirty="0">
                <a:solidFill>
                  <a:schemeClr val="tx1"/>
                </a:solidFill>
                <a:latin typeface="Times New Roman" panose="02020603050405020304" pitchFamily="18" charset="0"/>
                <a:cs typeface="Times New Roman" panose="02020603050405020304" pitchFamily="18" charset="0"/>
              </a:rPr>
              <a:t>• </a:t>
            </a:r>
            <a:r>
              <a:rPr lang="pt-BR" sz="2800" b="1" dirty="0">
                <a:solidFill>
                  <a:schemeClr val="tx1"/>
                </a:solidFill>
                <a:latin typeface="Times New Roman" panose="02020603050405020304" pitchFamily="18" charset="0"/>
                <a:cs typeface="Times New Roman" panose="02020603050405020304" pitchFamily="18" charset="0"/>
              </a:rPr>
              <a:t>Modelar o sistema utilizando o paradigma de Orientação a Objetos para separar a lógica do jogo da inteligência do agente.</a:t>
            </a:r>
          </a:p>
          <a:p>
            <a:pPr algn="just">
              <a:spcBef>
                <a:spcPts val="0"/>
              </a:spcBef>
            </a:pPr>
            <a:endParaRPr lang="pt-BR" sz="2800" b="1"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2800" b="1" dirty="0">
                <a:solidFill>
                  <a:schemeClr val="tx1"/>
                </a:solidFill>
                <a:latin typeface="Times New Roman" panose="02020603050405020304" pitchFamily="18" charset="0"/>
                <a:cs typeface="Times New Roman" panose="02020603050405020304" pitchFamily="18" charset="0"/>
              </a:rPr>
              <a:t>• Implementar um algoritmo de decisão baseado em regras de prioridade (Ataque, Defesa e Estratégia).</a:t>
            </a:r>
          </a:p>
          <a:p>
            <a:pPr algn="just">
              <a:spcBef>
                <a:spcPts val="0"/>
              </a:spcBef>
            </a:pPr>
            <a:endParaRPr lang="pt-BR" sz="2800" b="1"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2800" b="1" dirty="0">
                <a:solidFill>
                  <a:schemeClr val="tx1"/>
                </a:solidFill>
                <a:latin typeface="Times New Roman" panose="02020603050405020304" pitchFamily="18" charset="0"/>
                <a:cs typeface="Times New Roman" panose="02020603050405020304" pitchFamily="18" charset="0"/>
              </a:rPr>
              <a:t>• Garantir que o agente seja capaz de identificar vitórias, bloqueios e jogadas ótimas em tempo real.</a:t>
            </a:r>
          </a:p>
          <a:p>
            <a:pPr algn="just">
              <a:spcBef>
                <a:spcPts val="0"/>
              </a:spcBef>
            </a:pPr>
            <a:endParaRPr lang="pt-BR" sz="2800" b="1"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6600" b="1" dirty="0">
                <a:solidFill>
                  <a:schemeClr val="tx1"/>
                </a:solidFill>
                <a:latin typeface="Times New Roman" panose="02020603050405020304" pitchFamily="18" charset="0"/>
                <a:cs typeface="Times New Roman" panose="02020603050405020304" pitchFamily="18" charset="0"/>
              </a:rPr>
              <a:t>MÉTODOS</a:t>
            </a:r>
            <a:endParaRPr lang="pt-BR" sz="3200"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3000" dirty="0">
                <a:solidFill>
                  <a:schemeClr val="tx1"/>
                </a:solidFill>
                <a:latin typeface="Times New Roman" panose="02020603050405020304" pitchFamily="18" charset="0"/>
                <a:cs typeface="Times New Roman" panose="02020603050405020304" pitchFamily="18" charset="0"/>
              </a:rPr>
              <a:t>A solução foi desenvolvida em linguagem Python, estruturada em três classes principais que definem a arquitetura do sistema:</a:t>
            </a:r>
          </a:p>
          <a:p>
            <a:pPr algn="just">
              <a:spcBef>
                <a:spcPts val="0"/>
              </a:spcBef>
            </a:pPr>
            <a:endParaRPr lang="pt-BR" sz="2800" dirty="0">
              <a:solidFill>
                <a:schemeClr val="tx1"/>
              </a:solidFill>
              <a:latin typeface="Times New Roman" panose="02020603050405020304" pitchFamily="18" charset="0"/>
              <a:cs typeface="Times New Roman" panose="02020603050405020304" pitchFamily="18" charset="0"/>
            </a:endParaRPr>
          </a:p>
          <a:p>
            <a:pPr marL="514350" indent="-514350" algn="just">
              <a:spcBef>
                <a:spcPts val="0"/>
              </a:spcBef>
              <a:buFont typeface="+mj-lt"/>
              <a:buAutoNum type="arabicPeriod"/>
            </a:pPr>
            <a:r>
              <a:rPr lang="pt-BR" sz="2800" b="1" dirty="0">
                <a:solidFill>
                  <a:schemeClr val="tx1"/>
                </a:solidFill>
                <a:latin typeface="Times New Roman" panose="02020603050405020304" pitchFamily="18" charset="0"/>
                <a:cs typeface="Times New Roman" panose="02020603050405020304" pitchFamily="18" charset="0"/>
              </a:rPr>
              <a:t>Classe Ambiente: Representa o tabuleiro e as regras do jogo. É responsável por manter o estado (matriz 3x3), validar movimentos e verificar condições de vitória ou empate (o "Juiz").</a:t>
            </a:r>
          </a:p>
          <a:p>
            <a:pPr marL="514350" indent="-514350" algn="just">
              <a:spcBef>
                <a:spcPts val="0"/>
              </a:spcBef>
              <a:buFont typeface="+mj-lt"/>
              <a:buAutoNum type="arabicPeriod"/>
            </a:pPr>
            <a:r>
              <a:rPr lang="pt-BR" sz="2800" b="1" dirty="0">
                <a:solidFill>
                  <a:schemeClr val="tx1"/>
                </a:solidFill>
                <a:latin typeface="Times New Roman" panose="02020603050405020304" pitchFamily="18" charset="0"/>
                <a:cs typeface="Times New Roman" panose="02020603050405020304" pitchFamily="18" charset="0"/>
              </a:rPr>
              <a:t>Classe Agente: Classe base que define as propriedades genéricas de um jogador (símbolo 'X' ou 'O’).</a:t>
            </a:r>
          </a:p>
          <a:p>
            <a:pPr marL="514350" indent="-514350" algn="just">
              <a:spcBef>
                <a:spcPts val="0"/>
              </a:spcBef>
              <a:buFont typeface="+mj-lt"/>
              <a:buAutoNum type="arabicPeriod"/>
            </a:pPr>
            <a:r>
              <a:rPr lang="pt-BR" sz="2800" b="1" dirty="0">
                <a:solidFill>
                  <a:schemeClr val="tx1"/>
                </a:solidFill>
                <a:latin typeface="Times New Roman" panose="02020603050405020304" pitchFamily="18" charset="0"/>
                <a:cs typeface="Times New Roman" panose="02020603050405020304" pitchFamily="18" charset="0"/>
              </a:rPr>
              <a:t>Classe </a:t>
            </a:r>
            <a:r>
              <a:rPr lang="pt-BR" sz="2800" b="1" dirty="0" err="1">
                <a:solidFill>
                  <a:schemeClr val="tx1"/>
                </a:solidFill>
                <a:latin typeface="Times New Roman" panose="02020603050405020304" pitchFamily="18" charset="0"/>
                <a:cs typeface="Times New Roman" panose="02020603050405020304" pitchFamily="18" charset="0"/>
              </a:rPr>
              <a:t>AgenteIA</a:t>
            </a:r>
            <a:r>
              <a:rPr lang="pt-BR" sz="2800" b="1" dirty="0">
                <a:solidFill>
                  <a:schemeClr val="tx1"/>
                </a:solidFill>
                <a:latin typeface="Times New Roman" panose="02020603050405020304" pitchFamily="18" charset="0"/>
                <a:cs typeface="Times New Roman" panose="02020603050405020304" pitchFamily="18" charset="0"/>
              </a:rPr>
              <a:t> (Herança): Especialização do agente que implementa o método cognitivo pensar().</a:t>
            </a:r>
          </a:p>
          <a:p>
            <a:pPr algn="just">
              <a:spcBef>
                <a:spcPts val="0"/>
              </a:spcBef>
            </a:pPr>
            <a:endParaRPr lang="pt-BR" sz="2800"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3000" dirty="0">
                <a:solidFill>
                  <a:schemeClr val="tx1"/>
                </a:solidFill>
                <a:latin typeface="Times New Roman" panose="02020603050405020304" pitchFamily="18" charset="0"/>
                <a:cs typeface="Times New Roman" panose="02020603050405020304" pitchFamily="18" charset="0"/>
              </a:rPr>
              <a:t>Algoritmo de Decisão (Heurística): O método pensar() do agente opera como um Sistema Baseado em Regras Hierárquicas. A cada turno, o agente analisa o Ambiente (percepção) e escolhe a ação seguindo esta ordem de prioridade estrita:</a:t>
            </a:r>
          </a:p>
          <a:p>
            <a:pPr algn="just">
              <a:spcBef>
                <a:spcPts val="0"/>
              </a:spcBef>
            </a:pPr>
            <a:endParaRPr lang="pt-BR" sz="2800" b="1" dirty="0">
              <a:solidFill>
                <a:schemeClr val="tx1"/>
              </a:solidFill>
              <a:latin typeface="Times New Roman" panose="02020603050405020304" pitchFamily="18" charset="0"/>
              <a:cs typeface="Times New Roman" panose="02020603050405020304" pitchFamily="18" charset="0"/>
            </a:endParaRPr>
          </a:p>
          <a:p>
            <a:pPr marL="514350" indent="-514350" algn="just">
              <a:spcBef>
                <a:spcPts val="0"/>
              </a:spcBef>
              <a:buFont typeface="+mj-lt"/>
              <a:buAutoNum type="arabicPeriod"/>
            </a:pPr>
            <a:r>
              <a:rPr lang="pt-BR" sz="2800" b="1" dirty="0">
                <a:solidFill>
                  <a:schemeClr val="tx1"/>
                </a:solidFill>
                <a:latin typeface="Times New Roman" panose="02020603050405020304" pitchFamily="18" charset="0"/>
                <a:cs typeface="Times New Roman" panose="02020603050405020304" pitchFamily="18" charset="0"/>
              </a:rPr>
              <a:t>Vitória Imediata: Verifica se há alguma jogada que encerra o jogo a seu favor.</a:t>
            </a:r>
          </a:p>
          <a:p>
            <a:pPr marL="514350" indent="-514350" algn="just">
              <a:spcBef>
                <a:spcPts val="0"/>
              </a:spcBef>
              <a:buFont typeface="+mj-lt"/>
              <a:buAutoNum type="arabicPeriod"/>
            </a:pPr>
            <a:r>
              <a:rPr lang="pt-BR" sz="2800" b="1" dirty="0">
                <a:solidFill>
                  <a:schemeClr val="tx1"/>
                </a:solidFill>
                <a:latin typeface="Times New Roman" panose="02020603050405020304" pitchFamily="18" charset="0"/>
                <a:cs typeface="Times New Roman" panose="02020603050405020304" pitchFamily="18" charset="0"/>
              </a:rPr>
              <a:t>Bloqueio: Verifica se o oponente vencerá na próxima rodada e bloqueia a posição.</a:t>
            </a:r>
          </a:p>
          <a:p>
            <a:pPr marL="514350" indent="-514350" algn="just">
              <a:spcBef>
                <a:spcPts val="0"/>
              </a:spcBef>
              <a:buFont typeface="+mj-lt"/>
              <a:buAutoNum type="arabicPeriod"/>
            </a:pPr>
            <a:r>
              <a:rPr lang="pt-BR" sz="2800" b="1" dirty="0">
                <a:solidFill>
                  <a:schemeClr val="tx1"/>
                </a:solidFill>
                <a:latin typeface="Times New Roman" panose="02020603050405020304" pitchFamily="18" charset="0"/>
                <a:cs typeface="Times New Roman" panose="02020603050405020304" pitchFamily="18" charset="0"/>
              </a:rPr>
              <a:t>Ocupação Estratégica: Prioriza o centro do tabuleiro (1,1), estatisticamente a posição mais valiosa.</a:t>
            </a:r>
          </a:p>
          <a:p>
            <a:pPr marL="514350" indent="-514350" algn="just">
              <a:spcBef>
                <a:spcPts val="0"/>
              </a:spcBef>
              <a:buFont typeface="+mj-lt"/>
              <a:buAutoNum type="arabicPeriod"/>
            </a:pPr>
            <a:r>
              <a:rPr lang="pt-BR" sz="2800" b="1" dirty="0">
                <a:solidFill>
                  <a:schemeClr val="tx1"/>
                </a:solidFill>
                <a:latin typeface="Times New Roman" panose="02020603050405020304" pitchFamily="18" charset="0"/>
                <a:cs typeface="Times New Roman" panose="02020603050405020304" pitchFamily="18" charset="0"/>
              </a:rPr>
              <a:t>Ocupação de Cantos: Prioriza os vértices do tabuleiro.</a:t>
            </a:r>
          </a:p>
          <a:p>
            <a:pPr marL="514350" indent="-514350" algn="just">
              <a:spcBef>
                <a:spcPts val="0"/>
              </a:spcBef>
              <a:buFont typeface="+mj-lt"/>
              <a:buAutoNum type="arabicPeriod"/>
            </a:pPr>
            <a:r>
              <a:rPr lang="pt-BR" sz="2800" b="1" dirty="0">
                <a:solidFill>
                  <a:schemeClr val="tx1"/>
                </a:solidFill>
                <a:latin typeface="Times New Roman" panose="02020603050405020304" pitchFamily="18" charset="0"/>
                <a:cs typeface="Times New Roman" panose="02020603050405020304" pitchFamily="18" charset="0"/>
              </a:rPr>
              <a:t>Movimento Aleatório: Caso nenhuma regra anterior se aplique, escolhe uma casa vazia disponível.</a:t>
            </a:r>
            <a:endParaRPr lang="pt-BR" sz="2800" b="1" dirty="0">
              <a:solidFill>
                <a:schemeClr val="tx1"/>
              </a:solidFill>
            </a:endParaRPr>
          </a:p>
        </p:txBody>
      </p:sp>
      <p:sp>
        <p:nvSpPr>
          <p:cNvPr id="15" name="Subtítulo 2"/>
          <p:cNvSpPr txBox="1">
            <a:spLocks/>
          </p:cNvSpPr>
          <p:nvPr/>
        </p:nvSpPr>
        <p:spPr>
          <a:xfrm>
            <a:off x="16035133" y="12176232"/>
            <a:ext cx="15576604" cy="25947214"/>
          </a:xfrm>
          <a:prstGeom prst="rect">
            <a:avLst/>
          </a:prstGeom>
          <a:noFill/>
          <a:ln>
            <a:noFill/>
          </a:ln>
        </p:spPr>
        <p:txBody>
          <a:bodyPr vert="horz" lIns="432054" tIns="216027" rIns="432054" bIns="216027" rtlCol="0" anchor="t">
            <a:noAutofit/>
          </a:bodyPr>
          <a:lstStyle/>
          <a:p>
            <a:pPr algn="just">
              <a:spcBef>
                <a:spcPts val="0"/>
              </a:spcBef>
            </a:pPr>
            <a:r>
              <a:rPr lang="pt-BR" sz="6600" b="1" dirty="0">
                <a:latin typeface="Times New Roman" panose="02020603050405020304" pitchFamily="18" charset="0"/>
                <a:cs typeface="Times New Roman" panose="02020603050405020304" pitchFamily="18" charset="0"/>
              </a:rPr>
              <a:t>RESULTADOS</a:t>
            </a:r>
          </a:p>
          <a:p>
            <a:pPr algn="just">
              <a:spcBef>
                <a:spcPts val="0"/>
              </a:spcBef>
            </a:pPr>
            <a:r>
              <a:rPr lang="pt-BR" sz="2800" dirty="0">
                <a:latin typeface="Times New Roman" panose="02020603050405020304" pitchFamily="18" charset="0"/>
                <a:cs typeface="Times New Roman" panose="02020603050405020304" pitchFamily="18" charset="0"/>
              </a:rPr>
              <a:t>Os testes realizados com o agente demonstraram um comportamento estratégico consistente:</a:t>
            </a:r>
          </a:p>
          <a:p>
            <a:pPr algn="just">
              <a:spcBef>
                <a:spcPts val="0"/>
              </a:spcBef>
            </a:pPr>
            <a:endParaRPr lang="pt-BR" sz="2800" dirty="0">
              <a:latin typeface="Times New Roman" panose="02020603050405020304" pitchFamily="18" charset="0"/>
              <a:cs typeface="Times New Roman" panose="02020603050405020304" pitchFamily="18" charset="0"/>
            </a:endParaRPr>
          </a:p>
          <a:p>
            <a:pPr marL="457200" indent="-457200" algn="just">
              <a:spcBef>
                <a:spcPts val="0"/>
              </a:spcBef>
              <a:buFont typeface="Arial" panose="020B0604020202020204" pitchFamily="34" charset="0"/>
              <a:buChar char="•"/>
            </a:pPr>
            <a:r>
              <a:rPr lang="pt-BR" sz="2800" b="1" dirty="0">
                <a:latin typeface="Times New Roman" panose="02020603050405020304" pitchFamily="18" charset="0"/>
                <a:cs typeface="Times New Roman" panose="02020603050405020304" pitchFamily="18" charset="0"/>
              </a:rPr>
              <a:t>Desempenho Defensivo:</a:t>
            </a:r>
            <a:r>
              <a:rPr lang="pt-BR" sz="2800" dirty="0">
                <a:latin typeface="Times New Roman" panose="02020603050405020304" pitchFamily="18" charset="0"/>
                <a:cs typeface="Times New Roman" panose="02020603050405020304" pitchFamily="18" charset="0"/>
              </a:rPr>
              <a:t> O agente obteve 100% de sucesso em bloquear vitórias iminentes do adversário humano, impedindo derrotas por desatenção.</a:t>
            </a:r>
          </a:p>
          <a:p>
            <a:pPr marL="457200" indent="-457200" algn="just">
              <a:spcBef>
                <a:spcPts val="0"/>
              </a:spcBef>
              <a:buFont typeface="Arial" panose="020B0604020202020204" pitchFamily="34" charset="0"/>
              <a:buChar char="•"/>
            </a:pPr>
            <a:r>
              <a:rPr lang="pt-BR" sz="2800" b="1" dirty="0">
                <a:latin typeface="Times New Roman" panose="02020603050405020304" pitchFamily="18" charset="0"/>
                <a:cs typeface="Times New Roman" panose="02020603050405020304" pitchFamily="18" charset="0"/>
              </a:rPr>
              <a:t>Desempenho Ofensivo:</a:t>
            </a:r>
            <a:r>
              <a:rPr lang="pt-BR" sz="2800" dirty="0">
                <a:latin typeface="Times New Roman" panose="02020603050405020304" pitchFamily="18" charset="0"/>
                <a:cs typeface="Times New Roman" panose="02020603050405020304" pitchFamily="18" charset="0"/>
              </a:rPr>
              <a:t> O agente foi capaz de identificar e executar todas as oportunidades de vitória imediata apresentadas.</a:t>
            </a:r>
          </a:p>
          <a:p>
            <a:pPr marL="457200" indent="-457200" algn="just">
              <a:spcBef>
                <a:spcPts val="0"/>
              </a:spcBef>
              <a:buFont typeface="Arial" panose="020B0604020202020204" pitchFamily="34" charset="0"/>
              <a:buChar char="•"/>
            </a:pPr>
            <a:r>
              <a:rPr lang="pt-BR" sz="2800" b="1" dirty="0">
                <a:latin typeface="Times New Roman" panose="02020603050405020304" pitchFamily="18" charset="0"/>
                <a:cs typeface="Times New Roman" panose="02020603050405020304" pitchFamily="18" charset="0"/>
              </a:rPr>
              <a:t>Eficiência:</a:t>
            </a:r>
            <a:r>
              <a:rPr lang="pt-BR" sz="2800" dirty="0">
                <a:latin typeface="Times New Roman" panose="02020603050405020304" pitchFamily="18" charset="0"/>
                <a:cs typeface="Times New Roman" panose="02020603050405020304" pitchFamily="18" charset="0"/>
              </a:rPr>
              <a:t> O tempo de resposta para a tomada de decisão foi imediato (&lt; 0.1s), demonstrando a leveza do algoritmo baseado em regras comparado a buscas profundas em árvore.</a:t>
            </a:r>
          </a:p>
          <a:p>
            <a:pPr marL="457200" indent="-457200" algn="just">
              <a:spcBef>
                <a:spcPts val="0"/>
              </a:spcBef>
              <a:buFont typeface="Arial" panose="020B0604020202020204" pitchFamily="34" charset="0"/>
              <a:buChar char="•"/>
            </a:pPr>
            <a:r>
              <a:rPr lang="pt-BR" sz="2800" b="1" dirty="0">
                <a:latin typeface="Times New Roman" panose="02020603050405020304" pitchFamily="18" charset="0"/>
                <a:cs typeface="Times New Roman" panose="02020603050405020304" pitchFamily="18" charset="0"/>
              </a:rPr>
              <a:t>Limitação:</a:t>
            </a:r>
            <a:r>
              <a:rPr lang="pt-BR" sz="2800" dirty="0">
                <a:latin typeface="Times New Roman" panose="02020603050405020304" pitchFamily="18" charset="0"/>
                <a:cs typeface="Times New Roman" panose="02020603050405020304" pitchFamily="18" charset="0"/>
              </a:rPr>
              <a:t> Observou-se que, contra jogadores humanos perfeitos, o agente tende ao empate, comportamento esperado para o Jogo da Velha.</a:t>
            </a:r>
          </a:p>
          <a:p>
            <a:pPr marL="457200" indent="-457200" algn="just">
              <a:spcBef>
                <a:spcPts val="0"/>
              </a:spcBef>
              <a:buFont typeface="Arial" panose="020B0604020202020204" pitchFamily="34" charset="0"/>
              <a:buChar char="•"/>
            </a:pPr>
            <a:endParaRPr lang="pt-BR" sz="2800" dirty="0">
              <a:latin typeface="Times New Roman" panose="02020603050405020304" pitchFamily="18" charset="0"/>
              <a:cs typeface="Times New Roman" panose="02020603050405020304" pitchFamily="18" charset="0"/>
            </a:endParaRPr>
          </a:p>
          <a:p>
            <a:pPr algn="just"/>
            <a:r>
              <a:rPr lang="pt-BR" sz="2800" dirty="0">
                <a:latin typeface="Times New Roman" panose="02020603050405020304" pitchFamily="18" charset="0"/>
                <a:cs typeface="Times New Roman" panose="02020603050405020304" pitchFamily="18" charset="0"/>
              </a:rPr>
              <a:t>A análise qualitativa revelou que o Agente IA apresenta pontos fortes decisivos, como a </a:t>
            </a:r>
            <a:r>
              <a:rPr lang="pt-BR" sz="2800" b="1" dirty="0">
                <a:latin typeface="Times New Roman" panose="02020603050405020304" pitchFamily="18" charset="0"/>
                <a:cs typeface="Times New Roman" panose="02020603050405020304" pitchFamily="18" charset="0"/>
              </a:rPr>
              <a:t>ausência de erros táticos básicos</a:t>
            </a:r>
            <a:r>
              <a:rPr lang="pt-BR" sz="2800" dirty="0">
                <a:latin typeface="Times New Roman" panose="02020603050405020304" pitchFamily="18" charset="0"/>
                <a:cs typeface="Times New Roman" panose="02020603050405020304" pitchFamily="18" charset="0"/>
              </a:rPr>
              <a:t>, a </a:t>
            </a:r>
            <a:r>
              <a:rPr lang="pt-BR" sz="2800" b="1" dirty="0">
                <a:latin typeface="Times New Roman" panose="02020603050405020304" pitchFamily="18" charset="0"/>
                <a:cs typeface="Times New Roman" panose="02020603050405020304" pitchFamily="18" charset="0"/>
              </a:rPr>
              <a:t>identificação imediata de vitórias</a:t>
            </a:r>
            <a:r>
              <a:rPr lang="pt-BR" sz="2800" dirty="0">
                <a:latin typeface="Times New Roman" panose="02020603050405020304" pitchFamily="18" charset="0"/>
                <a:cs typeface="Times New Roman" panose="02020603050405020304" pitchFamily="18" charset="0"/>
              </a:rPr>
              <a:t> e a </a:t>
            </a:r>
            <a:r>
              <a:rPr lang="pt-BR" sz="2800" b="1" dirty="0">
                <a:latin typeface="Times New Roman" panose="02020603050405020304" pitchFamily="18" charset="0"/>
                <a:cs typeface="Times New Roman" panose="02020603050405020304" pitchFamily="18" charset="0"/>
              </a:rPr>
              <a:t>execução infalível de bloqueios defensivos</a:t>
            </a:r>
            <a:r>
              <a:rPr lang="pt-BR" sz="2800" dirty="0">
                <a:latin typeface="Times New Roman" panose="02020603050405020304" pitchFamily="18" charset="0"/>
                <a:cs typeface="Times New Roman" panose="02020603050405020304" pitchFamily="18" charset="0"/>
              </a:rPr>
              <a:t> quando ameaçado. O comportamento mostrou-se consistente e determinístico em todas as partidas simuladas.</a:t>
            </a:r>
          </a:p>
          <a:p>
            <a:pPr algn="just"/>
            <a:r>
              <a:rPr lang="pt-BR" sz="2800" dirty="0">
                <a:latin typeface="Times New Roman" panose="02020603050405020304" pitchFamily="18" charset="0"/>
                <a:cs typeface="Times New Roman" panose="02020603050405020304" pitchFamily="18" charset="0"/>
              </a:rPr>
              <a:t>Como limitações, observou-se um padrão de jogadas repetitivo em aberturas simétricas e uma vulnerabilidade a táticas de 'dupla ameaça' (garfos), uma vez que a heurística baseada em regras prioriza o estado atual sem simular profundidade futura. Contudo, diferente de jogos mais complexos, o tempo de resposta manteve-se </a:t>
            </a:r>
            <a:r>
              <a:rPr lang="pt-BR" sz="2800" b="1" dirty="0">
                <a:latin typeface="Times New Roman" panose="02020603050405020304" pitchFamily="18" charset="0"/>
                <a:cs typeface="Times New Roman" panose="02020603050405020304" pitchFamily="18" charset="0"/>
              </a:rPr>
              <a:t>imediato e constante</a:t>
            </a:r>
            <a:r>
              <a:rPr lang="pt-BR" sz="2800" dirty="0">
                <a:latin typeface="Times New Roman" panose="02020603050405020304" pitchFamily="18" charset="0"/>
                <a:cs typeface="Times New Roman" panose="02020603050405020304" pitchFamily="18" charset="0"/>
              </a:rPr>
              <a:t>, independentemente do estágio da partida, validando a eficiência computacional da arquitetura proposta.</a:t>
            </a:r>
          </a:p>
          <a:p>
            <a:pPr algn="just"/>
            <a:endParaRPr lang="pt-BR" sz="2400" b="1" dirty="0">
              <a:latin typeface="Times New Roman" panose="02020603050405020304" pitchFamily="18" charset="0"/>
              <a:cs typeface="Times New Roman" panose="02020603050405020304" pitchFamily="18" charset="0"/>
            </a:endParaRPr>
          </a:p>
          <a:p>
            <a:r>
              <a:rPr lang="pt-BR" sz="4400" b="1" dirty="0">
                <a:latin typeface="Times New Roman" panose="02020603050405020304" pitchFamily="18" charset="0"/>
                <a:cs typeface="Times New Roman" panose="02020603050405020304" pitchFamily="18" charset="0"/>
              </a:rPr>
              <a:t>Figura 1 – Interface do jogo em execução no terminal, demonstrando a interação entre Humano e Agente IA.</a:t>
            </a:r>
          </a:p>
          <a:p>
            <a:endParaRPr lang="pt-BR" sz="4400" b="1" dirty="0">
              <a:latin typeface="Times New Roman" panose="02020603050405020304" pitchFamily="18" charset="0"/>
              <a:cs typeface="Times New Roman" panose="02020603050405020304" pitchFamily="18" charset="0"/>
            </a:endParaRPr>
          </a:p>
          <a:p>
            <a:endParaRPr lang="pt-BR" sz="9600" b="1" dirty="0">
              <a:latin typeface="Times New Roman" panose="02020603050405020304" pitchFamily="18" charset="0"/>
              <a:cs typeface="Times New Roman" panose="02020603050405020304" pitchFamily="18" charset="0"/>
            </a:endParaRPr>
          </a:p>
          <a:p>
            <a:endParaRPr lang="pt-BR" sz="9600" b="1" dirty="0">
              <a:latin typeface="Times New Roman" panose="02020603050405020304" pitchFamily="18" charset="0"/>
              <a:cs typeface="Times New Roman" panose="02020603050405020304" pitchFamily="18" charset="0"/>
            </a:endParaRPr>
          </a:p>
          <a:p>
            <a:endParaRPr lang="pt-BR" sz="9600" b="1" dirty="0">
              <a:latin typeface="Times New Roman" panose="02020603050405020304" pitchFamily="18" charset="0"/>
              <a:cs typeface="Times New Roman" panose="02020603050405020304" pitchFamily="18" charset="0"/>
            </a:endParaRPr>
          </a:p>
          <a:p>
            <a:endParaRPr lang="pt-BR" sz="9600" b="1" dirty="0">
              <a:latin typeface="Times New Roman" panose="02020603050405020304" pitchFamily="18" charset="0"/>
              <a:cs typeface="Times New Roman" panose="02020603050405020304" pitchFamily="18" charset="0"/>
            </a:endParaRPr>
          </a:p>
          <a:p>
            <a:endParaRPr lang="pt-BR" sz="9600" b="1" dirty="0">
              <a:latin typeface="Times New Roman" panose="02020603050405020304" pitchFamily="18" charset="0"/>
              <a:cs typeface="Times New Roman" panose="02020603050405020304" pitchFamily="18" charset="0"/>
            </a:endParaRPr>
          </a:p>
          <a:p>
            <a:endParaRPr lang="pt-BR" sz="9600" b="1" dirty="0">
              <a:latin typeface="Times New Roman" panose="02020603050405020304" pitchFamily="18" charset="0"/>
              <a:cs typeface="Times New Roman" panose="02020603050405020304" pitchFamily="18" charset="0"/>
            </a:endParaRPr>
          </a:p>
          <a:p>
            <a:endParaRPr lang="pt-BR" sz="9600" b="1" dirty="0">
              <a:latin typeface="Times New Roman" panose="02020603050405020304" pitchFamily="18" charset="0"/>
              <a:cs typeface="Times New Roman" panose="02020603050405020304" pitchFamily="18" charset="0"/>
            </a:endParaRPr>
          </a:p>
          <a:p>
            <a:pPr algn="just">
              <a:spcBef>
                <a:spcPts val="0"/>
              </a:spcBef>
            </a:pPr>
            <a:r>
              <a:rPr lang="pt-BR" sz="6600" b="1" dirty="0">
                <a:latin typeface="Times New Roman" panose="02020603050405020304" pitchFamily="18" charset="0"/>
                <a:cs typeface="Times New Roman" panose="02020603050405020304" pitchFamily="18" charset="0"/>
              </a:rPr>
              <a:t>CONCLUSÃO</a:t>
            </a:r>
            <a:endParaRPr lang="pt-BR" sz="2800" dirty="0">
              <a:latin typeface="Times New Roman" panose="02020603050405020304" pitchFamily="18" charset="0"/>
              <a:cs typeface="Times New Roman" panose="02020603050405020304" pitchFamily="18" charset="0"/>
            </a:endParaRPr>
          </a:p>
          <a:p>
            <a:pPr algn="just"/>
            <a:r>
              <a:rPr lang="pt-BR" sz="2800" dirty="0">
                <a:latin typeface="Times New Roman" panose="02020603050405020304" pitchFamily="18" charset="0"/>
                <a:cs typeface="Times New Roman" panose="02020603050405020304" pitchFamily="18" charset="0"/>
              </a:rPr>
              <a:t>O desenvolvimento deste projeto permitiu a aplicação prática de conceitos fundamentais de Inteligência Artificial e Engenharia de Software. A utilização de Programação Orientada a Objetos facilitou a modelagem do problema, permitindo uma separação clara entre as regras do mundo (Ambiente) e a lógica do indivíduo (Agente). O algoritmo de regras de prioridade provou-se uma solução eficaz para atingir uma complexidade média, criando um oponente desafiador para jogadores casuais e resiliente contra jogadores experientes.</a:t>
            </a:r>
          </a:p>
        </p:txBody>
      </p:sp>
      <p:sp>
        <p:nvSpPr>
          <p:cNvPr id="4" name="Rectangle 3"/>
          <p:cNvSpPr>
            <a:spLocks noChangeArrowheads="1"/>
          </p:cNvSpPr>
          <p:nvPr/>
        </p:nvSpPr>
        <p:spPr bwMode="auto">
          <a:xfrm>
            <a:off x="0" y="0"/>
            <a:ext cx="324040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t-BR"/>
          </a:p>
        </p:txBody>
      </p:sp>
      <p:sp>
        <p:nvSpPr>
          <p:cNvPr id="5" name="Rectangle 4"/>
          <p:cNvSpPr>
            <a:spLocks noChangeArrowheads="1"/>
          </p:cNvSpPr>
          <p:nvPr/>
        </p:nvSpPr>
        <p:spPr bwMode="auto">
          <a:xfrm>
            <a:off x="0" y="457200"/>
            <a:ext cx="324040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t-BR"/>
          </a:p>
        </p:txBody>
      </p:sp>
      <p:sp>
        <p:nvSpPr>
          <p:cNvPr id="17" name="Subtítulo 2"/>
          <p:cNvSpPr txBox="1">
            <a:spLocks/>
          </p:cNvSpPr>
          <p:nvPr/>
        </p:nvSpPr>
        <p:spPr>
          <a:xfrm>
            <a:off x="696254" y="38123446"/>
            <a:ext cx="30749932" cy="5903380"/>
          </a:xfrm>
          <a:prstGeom prst="rect">
            <a:avLst/>
          </a:prstGeom>
          <a:ln>
            <a:noFill/>
          </a:ln>
        </p:spPr>
        <p:txBody>
          <a:bodyPr vert="horz" lIns="432054" tIns="216027" rIns="432054" bIns="216027" rtlCol="0" anchor="t">
            <a:noAutofit/>
          </a:bodyPr>
          <a:lstStyle>
            <a:lvl1pPr marL="0" indent="0" algn="ctr" defTabSz="4320540" rtl="0" eaLnBrk="1" latinLnBrk="0" hangingPunct="1">
              <a:spcBef>
                <a:spcPct val="20000"/>
              </a:spcBef>
              <a:buFont typeface="Arial" pitchFamily="34" charset="0"/>
              <a:buNone/>
              <a:defRPr sz="15100" kern="1200">
                <a:solidFill>
                  <a:schemeClr val="tx1">
                    <a:tint val="75000"/>
                  </a:schemeClr>
                </a:solidFill>
                <a:latin typeface="+mn-lt"/>
                <a:ea typeface="+mn-ea"/>
                <a:cs typeface="+mn-cs"/>
              </a:defRPr>
            </a:lvl1pPr>
            <a:lvl2pPr marL="2160270" indent="0" algn="ctr" defTabSz="4320540" rtl="0" eaLnBrk="1" latinLnBrk="0" hangingPunct="1">
              <a:spcBef>
                <a:spcPct val="20000"/>
              </a:spcBef>
              <a:buFont typeface="Arial" pitchFamily="34" charset="0"/>
              <a:buNone/>
              <a:defRPr sz="13200" kern="1200">
                <a:solidFill>
                  <a:schemeClr val="tx1">
                    <a:tint val="75000"/>
                  </a:schemeClr>
                </a:solidFill>
                <a:latin typeface="+mn-lt"/>
                <a:ea typeface="+mn-ea"/>
                <a:cs typeface="+mn-cs"/>
              </a:defRPr>
            </a:lvl2pPr>
            <a:lvl3pPr marL="4320540" indent="0" algn="ctr" defTabSz="4320540" rtl="0" eaLnBrk="1" latinLnBrk="0" hangingPunct="1">
              <a:spcBef>
                <a:spcPct val="20000"/>
              </a:spcBef>
              <a:buFont typeface="Arial" pitchFamily="34" charset="0"/>
              <a:buNone/>
              <a:defRPr sz="11300" kern="1200">
                <a:solidFill>
                  <a:schemeClr val="tx1">
                    <a:tint val="75000"/>
                  </a:schemeClr>
                </a:solidFill>
                <a:latin typeface="+mn-lt"/>
                <a:ea typeface="+mn-ea"/>
                <a:cs typeface="+mn-cs"/>
              </a:defRPr>
            </a:lvl3pPr>
            <a:lvl4pPr marL="648081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4pPr>
            <a:lvl5pPr marL="864108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5pPr>
            <a:lvl6pPr marL="1080135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6pPr>
            <a:lvl7pPr marL="1296162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7pPr>
            <a:lvl8pPr marL="1512189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8pPr>
            <a:lvl9pPr marL="1728216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9pPr>
          </a:lstStyle>
          <a:p>
            <a:pPr algn="just">
              <a:spcBef>
                <a:spcPts val="0"/>
              </a:spcBef>
            </a:pPr>
            <a:r>
              <a:rPr lang="pt-BR" sz="6600" b="1" dirty="0">
                <a:solidFill>
                  <a:schemeClr val="tx1"/>
                </a:solidFill>
                <a:latin typeface="Times New Roman" panose="02020603050405020304" pitchFamily="18" charset="0"/>
                <a:cs typeface="Times New Roman" panose="02020603050405020304" pitchFamily="18" charset="0"/>
              </a:rPr>
              <a:t>REFERÊNCIAS BIBLIOGRÁFICAS</a:t>
            </a:r>
          </a:p>
          <a:p>
            <a:pPr algn="just">
              <a:spcBef>
                <a:spcPts val="0"/>
              </a:spcBef>
            </a:pPr>
            <a:endParaRPr lang="pt-BR" sz="2800" b="1"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3200" b="1" dirty="0">
                <a:solidFill>
                  <a:schemeClr val="tx1"/>
                </a:solidFill>
                <a:latin typeface="Times New Roman" panose="02020603050405020304" pitchFamily="18" charset="0"/>
                <a:cs typeface="Times New Roman" panose="02020603050405020304" pitchFamily="18" charset="0"/>
              </a:rPr>
              <a:t>1. </a:t>
            </a:r>
            <a:r>
              <a:rPr lang="en-US" sz="3200" b="1" dirty="0">
                <a:solidFill>
                  <a:schemeClr val="tx1"/>
                </a:solidFill>
                <a:latin typeface="Times New Roman" panose="02020603050405020304" pitchFamily="18" charset="0"/>
                <a:cs typeface="Times New Roman" panose="02020603050405020304" pitchFamily="18" charset="0"/>
              </a:rPr>
              <a:t>RUSSELL, Stuart; NORVIG, Peter. Artificial Intelligence: A Modern Approach. 3. ed. Prentice Hall, 2009.</a:t>
            </a:r>
            <a:endParaRPr lang="pt-BR" sz="3200" dirty="0">
              <a:solidFill>
                <a:schemeClr val="tx1"/>
              </a:solidFill>
              <a:latin typeface="Times New Roman" panose="02020603050405020304" pitchFamily="18" charset="0"/>
              <a:ea typeface="Calibri"/>
              <a:cs typeface="Times New Roman" panose="02020603050405020304" pitchFamily="18" charset="0"/>
            </a:endParaRPr>
          </a:p>
          <a:p>
            <a:pPr algn="just">
              <a:spcBef>
                <a:spcPts val="0"/>
              </a:spcBef>
            </a:pPr>
            <a:endParaRPr lang="pt-BR" sz="3200" b="1" dirty="0">
              <a:solidFill>
                <a:schemeClr val="tx1"/>
              </a:solidFill>
              <a:latin typeface="Times New Roman" panose="02020603050405020304" pitchFamily="18" charset="0"/>
              <a:cs typeface="Times New Roman" panose="02020603050405020304" pitchFamily="18" charset="0"/>
            </a:endParaRPr>
          </a:p>
          <a:p>
            <a:pPr algn="just">
              <a:spcBef>
                <a:spcPts val="0"/>
              </a:spcBef>
            </a:pPr>
            <a:r>
              <a:rPr lang="pt-BR" sz="3200" b="1" dirty="0">
                <a:solidFill>
                  <a:schemeClr val="tx1"/>
                </a:solidFill>
                <a:latin typeface="Times New Roman" panose="02020603050405020304" pitchFamily="18" charset="0"/>
                <a:cs typeface="Times New Roman" panose="02020603050405020304" pitchFamily="18" charset="0"/>
              </a:rPr>
              <a:t>2. DOCUMENTAÇÃO PYTHON. Classes e POO. Disponível em: python.org. Acesso em: nov. 2025.</a:t>
            </a:r>
            <a:endParaRPr lang="pt-BR" sz="3200" b="1" dirty="0">
              <a:solidFill>
                <a:schemeClr val="tx1"/>
              </a:solidFill>
              <a:latin typeface="Times New Roman" panose="02020603050405020304" pitchFamily="18" charset="0"/>
              <a:ea typeface="Calibri"/>
              <a:cs typeface="Times New Roman" panose="02020603050405020304" pitchFamily="18" charset="0"/>
            </a:endParaRPr>
          </a:p>
        </p:txBody>
      </p:sp>
      <p:pic>
        <p:nvPicPr>
          <p:cNvPr id="7" name="Imagem 6" descr="Diagrama&#10;&#10;O conteúdo gerado por IA pode estar incorreto.">
            <a:extLst>
              <a:ext uri="{FF2B5EF4-FFF2-40B4-BE49-F238E27FC236}">
                <a16:creationId xmlns:a16="http://schemas.microsoft.com/office/drawing/2014/main" id="{DE0425B4-4BBE-4119-F4E3-54908A697293}"/>
              </a:ext>
            </a:extLst>
          </p:cNvPr>
          <p:cNvPicPr>
            <a:picLocks noChangeAspect="1"/>
          </p:cNvPicPr>
          <p:nvPr/>
        </p:nvPicPr>
        <p:blipFill>
          <a:blip r:embed="rId2"/>
          <a:stretch>
            <a:fillRect/>
          </a:stretch>
        </p:blipFill>
        <p:spPr>
          <a:xfrm>
            <a:off x="25984200" y="692779"/>
            <a:ext cx="5632458" cy="3553028"/>
          </a:xfrm>
          <a:prstGeom prst="rect">
            <a:avLst/>
          </a:prstGeom>
        </p:spPr>
      </p:pic>
      <p:pic>
        <p:nvPicPr>
          <p:cNvPr id="11" name="Imagem 10">
            <a:extLst>
              <a:ext uri="{FF2B5EF4-FFF2-40B4-BE49-F238E27FC236}">
                <a16:creationId xmlns:a16="http://schemas.microsoft.com/office/drawing/2014/main" id="{16012876-1C84-8DE5-9B13-5905E424B1C3}"/>
              </a:ext>
            </a:extLst>
          </p:cNvPr>
          <p:cNvPicPr>
            <a:picLocks noChangeAspect="1"/>
          </p:cNvPicPr>
          <p:nvPr/>
        </p:nvPicPr>
        <p:blipFill>
          <a:blip r:embed="rId3"/>
          <a:stretch>
            <a:fillRect/>
          </a:stretch>
        </p:blipFill>
        <p:spPr>
          <a:xfrm>
            <a:off x="874034" y="748664"/>
            <a:ext cx="10612836" cy="2368923"/>
          </a:xfrm>
          <a:prstGeom prst="rect">
            <a:avLst/>
          </a:prstGeom>
        </p:spPr>
      </p:pic>
      <p:pic>
        <p:nvPicPr>
          <p:cNvPr id="24" name="Imagem 23">
            <a:extLst>
              <a:ext uri="{FF2B5EF4-FFF2-40B4-BE49-F238E27FC236}">
                <a16:creationId xmlns:a16="http://schemas.microsoft.com/office/drawing/2014/main" id="{7EFDD471-6E4E-9E51-4BFD-A3860FDF59D6}"/>
              </a:ext>
            </a:extLst>
          </p:cNvPr>
          <p:cNvPicPr>
            <a:picLocks noChangeAspect="1"/>
          </p:cNvPicPr>
          <p:nvPr/>
        </p:nvPicPr>
        <p:blipFill>
          <a:blip r:embed="rId4"/>
          <a:stretch>
            <a:fillRect/>
          </a:stretch>
        </p:blipFill>
        <p:spPr>
          <a:xfrm>
            <a:off x="16258260" y="24061507"/>
            <a:ext cx="15130349" cy="10029201"/>
          </a:xfrm>
          <a:prstGeom prst="rect">
            <a:avLst/>
          </a:prstGeom>
          <a:effectLst>
            <a:softEdge rad="0"/>
          </a:effectLst>
        </p:spPr>
      </p:pic>
    </p:spTree>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E94A46D20E05F40A5A8A444C6A729A0" ma:contentTypeVersion="6" ma:contentTypeDescription="Create a new document." ma:contentTypeScope="" ma:versionID="41f559de5882e8c0b2cfdb7f4fb4728e">
  <xsd:schema xmlns:xsd="http://www.w3.org/2001/XMLSchema" xmlns:xs="http://www.w3.org/2001/XMLSchema" xmlns:p="http://schemas.microsoft.com/office/2006/metadata/properties" xmlns:ns3="2f5230ee-e692-429d-9836-e9aa5e6ec001" targetNamespace="http://schemas.microsoft.com/office/2006/metadata/properties" ma:root="true" ma:fieldsID="2afde07a6d205a9c7f4dc4be19e39d4a" ns3:_="">
    <xsd:import namespace="2f5230ee-e692-429d-9836-e9aa5e6ec001"/>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MediaServiceDateTake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f5230ee-e692-429d-9836-e9aa5e6ec00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_activity" ma:index="13"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2f5230ee-e692-429d-9836-e9aa5e6ec001" xsi:nil="true"/>
  </documentManagement>
</p:properties>
</file>

<file path=customXml/itemProps1.xml><?xml version="1.0" encoding="utf-8"?>
<ds:datastoreItem xmlns:ds="http://schemas.openxmlformats.org/officeDocument/2006/customXml" ds:itemID="{B78DE663-0897-4335-877A-8B707F1BAD1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f5230ee-e692-429d-9836-e9aa5e6ec00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880A0A7-3287-4880-86E7-9A1083AA096A}">
  <ds:schemaRefs>
    <ds:schemaRef ds:uri="http://schemas.microsoft.com/sharepoint/v3/contenttype/forms"/>
  </ds:schemaRefs>
</ds:datastoreItem>
</file>

<file path=customXml/itemProps3.xml><?xml version="1.0" encoding="utf-8"?>
<ds:datastoreItem xmlns:ds="http://schemas.openxmlformats.org/officeDocument/2006/customXml" ds:itemID="{E6BFF2FB-FA4E-41C7-9FF9-8CBA4D8B0592}">
  <ds:schemaRefs>
    <ds:schemaRef ds:uri="http://schemas.openxmlformats.org/package/2006/metadata/core-properties"/>
    <ds:schemaRef ds:uri="2f5230ee-e692-429d-9836-e9aa5e6ec001"/>
    <ds:schemaRef ds:uri="http://www.w3.org/XML/1998/namespace"/>
    <ds:schemaRef ds:uri="http://purl.org/dc/elements/1.1/"/>
    <ds:schemaRef ds:uri="http://purl.org/dc/terms/"/>
    <ds:schemaRef ds:uri="http://schemas.microsoft.com/office/2006/documentManagement/types"/>
    <ds:schemaRef ds:uri="http://purl.org/dc/dcmitype/"/>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otalTime>332</TotalTime>
  <Words>848</Words>
  <Application>Microsoft Office PowerPoint</Application>
  <PresentationFormat>Personalizar</PresentationFormat>
  <Paragraphs>58</Paragraphs>
  <Slides>1</Slides>
  <Notes>0</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1</vt:i4>
      </vt:variant>
    </vt:vector>
  </HeadingPairs>
  <TitlesOfParts>
    <vt:vector size="5" baseType="lpstr">
      <vt:lpstr>Arial</vt:lpstr>
      <vt:lpstr>Calibri</vt:lpstr>
      <vt:lpstr>Times New Roman</vt:lpstr>
      <vt:lpstr>Tema do Office</vt:lpstr>
      <vt:lpstr>JOGO DA VELHA COM IA  Trabalho A3 - Inteligência Artificial DESENVOLVIMENTO DE AGENTE INTELIGENTE PARA JOGO DA VELHA UTILIZANDO PROGRAMAÇÃO ORIENTADA OBJETO  Arthur Santos Araújo- 12725166488; Gabriel Santos Rocha– 1272328504; Matheus Barbosa Costa - 12722118928; Rubem Matheus Vieira Martins - 1272216869.  Universidade Salvador – Salvador – BA – Brasil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Arthur Santos Araújo</dc:creator>
  <cp:lastModifiedBy>Arthur Araujo</cp:lastModifiedBy>
  <cp:revision>2</cp:revision>
  <dcterms:modified xsi:type="dcterms:W3CDTF">2025-11-17T21:27:16Z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0x0101005E94A46D20E05F40A5A8A444C6A729A0</vt:lpwstr>
  </property>
</Properties>
</file>