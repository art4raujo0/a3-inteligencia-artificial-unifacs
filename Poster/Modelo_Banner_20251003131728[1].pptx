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4"/>
  </p:sldMasterIdLst>
  <p:sldIdLst>
    <p:sldId id="256" r:id="rId5"/>
  </p:sldIdLst>
  <p:sldSz cx="32404050" cy="43205400"/>
  <p:notesSz cx="6858000" cy="9144000"/>
  <p:defaultTextStyle>
    <a:defPPr lvl="0">
      <a:defRPr lang="pt-BR"/>
    </a:defPPr>
    <a:lvl1pPr marL="0" lvl="0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1pPr>
    <a:lvl2pPr marL="2160270" lvl="1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2pPr>
    <a:lvl3pPr marL="4320540" lvl="2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3pPr>
    <a:lvl4pPr marL="6480810" lvl="3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4pPr>
    <a:lvl5pPr marL="8641080" lvl="4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5pPr>
    <a:lvl6pPr marL="10801350" lvl="5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6pPr>
    <a:lvl7pPr marL="12961620" lvl="6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7pPr>
    <a:lvl8pPr marL="15121890" lvl="7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8pPr>
    <a:lvl9pPr marL="17282160" lvl="8" algn="l" defTabSz="4320540" rtl="0" eaLnBrk="1" latinLnBrk="0" hangingPunct="1">
      <a:defRPr sz="85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3608">
          <p15:clr>
            <a:srgbClr val="A4A3A4"/>
          </p15:clr>
        </p15:guide>
        <p15:guide id="2" pos="10206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352825D-4657-4DC3-953B-C6B93BE52153}" v="1" dt="2025-11-11T02:08:18.851"/>
  </p1510:revLst>
</p1510:revInfo>
</file>

<file path=ppt/tableStyles.xml><?xml version="1.0" encoding="utf-8"?>
<a:tblStyleLst xmlns:a="http://schemas.openxmlformats.org/drawingml/2006/main" def="{90651C3A-4460-11DB-9652-00E08161165F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1500" y="66"/>
      </p:cViewPr>
      <p:guideLst>
        <p:guide orient="horz" pos="13608"/>
        <p:guide pos="1020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presProps" Target="presProps.xml"/><Relationship Id="rId11" Type="http://schemas.microsoft.com/office/2015/10/relationships/revisionInfo" Target="revisionInfo.xml"/><Relationship Id="rId5" Type="http://schemas.openxmlformats.org/officeDocument/2006/relationships/slide" Target="slides/slide1.xml"/><Relationship Id="rId10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Enzo Silva Leal" userId="7461a3c1-2190-4230-8faf-da5b523355ff" providerId="ADAL" clId="{92D247ED-47C3-4DFF-9306-308744F3ED74}"/>
    <pc:docChg chg="modSld">
      <pc:chgData name="Enzo Silva Leal" userId="7461a3c1-2190-4230-8faf-da5b523355ff" providerId="ADAL" clId="{92D247ED-47C3-4DFF-9306-308744F3ED74}" dt="2025-11-13T22:31:56.637" v="83" actId="20577"/>
      <pc:docMkLst>
        <pc:docMk/>
      </pc:docMkLst>
      <pc:sldChg chg="modSp mod">
        <pc:chgData name="Enzo Silva Leal" userId="7461a3c1-2190-4230-8faf-da5b523355ff" providerId="ADAL" clId="{92D247ED-47C3-4DFF-9306-308744F3ED74}" dt="2025-11-13T22:31:56.637" v="83" actId="20577"/>
        <pc:sldMkLst>
          <pc:docMk/>
          <pc:sldMk cId="0" sldId="256"/>
        </pc:sldMkLst>
        <pc:spChg chg="mod">
          <ac:chgData name="Enzo Silva Leal" userId="7461a3c1-2190-4230-8faf-da5b523355ff" providerId="ADAL" clId="{92D247ED-47C3-4DFF-9306-308744F3ED74}" dt="2025-11-13T22:31:56.637" v="83" actId="20577"/>
          <ac:spMkLst>
            <pc:docMk/>
            <pc:sldMk cId="0" sldId="256"/>
            <ac:spMk id="2" creationId="{00000000-0000-0000-0000-000000000000}"/>
          </ac:spMkLst>
        </pc:spChg>
        <pc:spChg chg="mod">
          <ac:chgData name="Enzo Silva Leal" userId="7461a3c1-2190-4230-8faf-da5b523355ff" providerId="ADAL" clId="{92D247ED-47C3-4DFF-9306-308744F3ED74}" dt="2025-11-11T02:08:36.376" v="3" actId="1076"/>
          <ac:spMkLst>
            <pc:docMk/>
            <pc:sldMk cId="0" sldId="256"/>
            <ac:spMk id="9" creationId="{00000000-0000-0000-0000-000000000000}"/>
          </ac:spMkLst>
        </pc:spChg>
        <pc:spChg chg="mod">
          <ac:chgData name="Enzo Silva Leal" userId="7461a3c1-2190-4230-8faf-da5b523355ff" providerId="ADAL" clId="{92D247ED-47C3-4DFF-9306-308744F3ED74}" dt="2025-11-11T02:09:42.650" v="38" actId="20577"/>
          <ac:spMkLst>
            <pc:docMk/>
            <pc:sldMk cId="0" sldId="256"/>
            <ac:spMk id="15" creationId="{00000000-0000-0000-0000-000000000000}"/>
          </ac:spMkLst>
        </pc:spChg>
        <pc:spChg chg="mod">
          <ac:chgData name="Enzo Silva Leal" userId="7461a3c1-2190-4230-8faf-da5b523355ff" providerId="ADAL" clId="{92D247ED-47C3-4DFF-9306-308744F3ED74}" dt="2025-11-11T02:08:42.002" v="4" actId="2711"/>
          <ac:spMkLst>
            <pc:docMk/>
            <pc:sldMk cId="0" sldId="256"/>
            <ac:spMk id="17" creationId="{00000000-0000-0000-0000-000000000000}"/>
          </ac:spMkLst>
        </pc:sp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30304" y="13421680"/>
            <a:ext cx="27543443" cy="9261158"/>
          </a:xfrm>
        </p:spPr>
        <p:txBody>
          <a:bodyPr/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4860608" y="24483060"/>
            <a:ext cx="22682835" cy="1104138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1602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3205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648081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86410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080135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29616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512189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72821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34088D9-6F99-4774-8F18-D88D64460132}" type="datetimeFigureOut">
              <a:rPr lang="pt-BR" smtClean="0"/>
              <a:pPr/>
              <a:t>13/11/2025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A5AF6-92C6-4656-8B3D-FE2340DD82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3">
            <a:lumMod val="20000"/>
            <a:lumOff val="80000"/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1620203" y="1730219"/>
            <a:ext cx="29163645" cy="7200900"/>
          </a:xfrm>
          <a:prstGeom prst="rect">
            <a:avLst/>
          </a:prstGeom>
        </p:spPr>
        <p:txBody>
          <a:bodyPr vert="horz" lIns="432054" tIns="216027" rIns="432054" bIns="216027" rtlCol="0" anchor="ctr">
            <a:normAutofit/>
          </a:bodyPr>
          <a:lstStyle/>
          <a:p>
            <a:r>
              <a:rPr lang="pt-BR"/>
              <a:t>Clique para editar o estilo do título mestre</a:t>
            </a:r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1620203" y="10081263"/>
            <a:ext cx="29163645" cy="28513567"/>
          </a:xfrm>
          <a:prstGeom prst="rect">
            <a:avLst/>
          </a:prstGeom>
        </p:spPr>
        <p:txBody>
          <a:bodyPr vert="horz" lIns="432054" tIns="216027" rIns="432054" bIns="216027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1620203" y="40045008"/>
            <a:ext cx="7560945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l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34088D9-6F99-4774-8F18-D88D64460132}" type="datetimeFigureOut">
              <a:rPr lang="pt-BR" smtClean="0"/>
              <a:pPr/>
              <a:t>13/11/2025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11071384" y="40045008"/>
            <a:ext cx="10261283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ct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23222903" y="40045008"/>
            <a:ext cx="7560945" cy="2300288"/>
          </a:xfrm>
          <a:prstGeom prst="rect">
            <a:avLst/>
          </a:prstGeom>
        </p:spPr>
        <p:txBody>
          <a:bodyPr vert="horz" lIns="432054" tIns="216027" rIns="432054" bIns="216027" rtlCol="0" anchor="ctr"/>
          <a:lstStyle>
            <a:lvl1pPr algn="r">
              <a:defRPr sz="5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43A5AF6-92C6-4656-8B3D-FE2340DD8210}" type="slidenum">
              <a:rPr lang="pt-BR" smtClean="0"/>
              <a:pPr/>
              <a:t>‹nº›</a:t>
            </a:fld>
            <a:endParaRPr lang="pt-B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ctr" defTabSz="4320540" rtl="0" eaLnBrk="1" latinLnBrk="0" hangingPunct="1">
        <a:spcBef>
          <a:spcPct val="0"/>
        </a:spcBef>
        <a:buNone/>
        <a:defRPr sz="20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620203" indent="-1620203" algn="l" defTabSz="4320540" rtl="0" eaLnBrk="1" latinLnBrk="0" hangingPunct="1">
        <a:spcBef>
          <a:spcPct val="20000"/>
        </a:spcBef>
        <a:buFont typeface="Arial" pitchFamily="34" charset="0"/>
        <a:buChar char="•"/>
        <a:defRPr sz="15100" kern="1200">
          <a:solidFill>
            <a:schemeClr val="tx1"/>
          </a:solidFill>
          <a:latin typeface="+mn-lt"/>
          <a:ea typeface="+mn-ea"/>
          <a:cs typeface="+mn-cs"/>
        </a:defRPr>
      </a:lvl1pPr>
      <a:lvl2pPr marL="3510439" indent="-1350169" algn="l" defTabSz="4320540" rtl="0" eaLnBrk="1" latinLnBrk="0" hangingPunct="1">
        <a:spcBef>
          <a:spcPct val="20000"/>
        </a:spcBef>
        <a:buFont typeface="Arial" pitchFamily="34" charset="0"/>
        <a:buChar char="–"/>
        <a:defRPr sz="13200" kern="1200">
          <a:solidFill>
            <a:schemeClr val="tx1"/>
          </a:solidFill>
          <a:latin typeface="+mn-lt"/>
          <a:ea typeface="+mn-ea"/>
          <a:cs typeface="+mn-cs"/>
        </a:defRPr>
      </a:lvl2pPr>
      <a:lvl3pPr marL="540067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11300" kern="1200">
          <a:solidFill>
            <a:schemeClr val="tx1"/>
          </a:solidFill>
          <a:latin typeface="+mn-lt"/>
          <a:ea typeface="+mn-ea"/>
          <a:cs typeface="+mn-cs"/>
        </a:defRPr>
      </a:lvl3pPr>
      <a:lvl4pPr marL="7560945" indent="-1080135" algn="l" defTabSz="4320540" rtl="0" eaLnBrk="1" latinLnBrk="0" hangingPunct="1">
        <a:spcBef>
          <a:spcPct val="20000"/>
        </a:spcBef>
        <a:buFont typeface="Arial" pitchFamily="34" charset="0"/>
        <a:buChar char="–"/>
        <a:defRPr sz="9500" kern="1200">
          <a:solidFill>
            <a:schemeClr val="tx1"/>
          </a:solidFill>
          <a:latin typeface="+mn-lt"/>
          <a:ea typeface="+mn-ea"/>
          <a:cs typeface="+mn-cs"/>
        </a:defRPr>
      </a:lvl4pPr>
      <a:lvl5pPr marL="9721215" indent="-1080135" algn="l" defTabSz="4320540" rtl="0" eaLnBrk="1" latinLnBrk="0" hangingPunct="1">
        <a:spcBef>
          <a:spcPct val="20000"/>
        </a:spcBef>
        <a:buFont typeface="Arial" pitchFamily="34" charset="0"/>
        <a:buChar char="»"/>
        <a:defRPr sz="9500" kern="1200">
          <a:solidFill>
            <a:schemeClr val="tx1"/>
          </a:solidFill>
          <a:latin typeface="+mn-lt"/>
          <a:ea typeface="+mn-ea"/>
          <a:cs typeface="+mn-cs"/>
        </a:defRPr>
      </a:lvl5pPr>
      <a:lvl6pPr marL="1188148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6pPr>
      <a:lvl7pPr marL="1404175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7pPr>
      <a:lvl8pPr marL="1620202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8pPr>
      <a:lvl9pPr marL="18362295" indent="-1080135" algn="l" defTabSz="4320540" rtl="0" eaLnBrk="1" latinLnBrk="0" hangingPunct="1">
        <a:spcBef>
          <a:spcPct val="20000"/>
        </a:spcBef>
        <a:buFont typeface="Arial" pitchFamily="34" charset="0"/>
        <a:buChar char="•"/>
        <a:defRPr sz="9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1pPr>
      <a:lvl2pPr marL="216027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2pPr>
      <a:lvl3pPr marL="432054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3pPr>
      <a:lvl4pPr marL="648081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4pPr>
      <a:lvl5pPr marL="864108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5pPr>
      <a:lvl6pPr marL="1080135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6pPr>
      <a:lvl7pPr marL="1296162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7pPr>
      <a:lvl8pPr marL="1512189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8pPr>
      <a:lvl9pPr marL="17282160" algn="l" defTabSz="4320540" rtl="0" eaLnBrk="1" latinLnBrk="0" hangingPunct="1">
        <a:defRPr sz="85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20000"/>
            <a:lumOff val="80000"/>
            <a:alpha val="24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tângulo 8"/>
          <p:cNvSpPr/>
          <p:nvPr/>
        </p:nvSpPr>
        <p:spPr>
          <a:xfrm>
            <a:off x="-8813" y="-748664"/>
            <a:ext cx="32412863" cy="43205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874034" y="4679098"/>
            <a:ext cx="30749932" cy="5790796"/>
          </a:xfrm>
        </p:spPr>
        <p:txBody>
          <a:bodyPr>
            <a:normAutofit fontScale="90000"/>
          </a:bodyPr>
          <a:lstStyle/>
          <a:p>
            <a:pPr hangingPunct="0"/>
            <a:r>
              <a:rPr lang="pt-BR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JOGO DE DAMAS COM IA</a:t>
            </a:r>
            <a:br>
              <a:rPr lang="pt-BR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Trabalho A3 - Inteligência Artificial</a:t>
            </a:r>
            <a:br>
              <a:rPr lang="pt-BR" sz="8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4400" b="1" dirty="0"/>
              <a:t>Desenvolvimento de Agente Inteligente para Jogo de Estratégia</a:t>
            </a:r>
            <a:br>
              <a:rPr lang="pt-BR" sz="5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Enzo Silva Leal - 1272417616;</a:t>
            </a:r>
            <a:br>
              <a:rPr lang="pt-B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Daniel de </a:t>
            </a:r>
            <a:r>
              <a:rPr lang="pt-BR" sz="4400" b="1">
                <a:latin typeface="Times New Roman" panose="02020603050405020304" pitchFamily="18" charset="0"/>
                <a:cs typeface="Times New Roman" panose="02020603050405020304" pitchFamily="18" charset="0"/>
              </a:rPr>
              <a:t>Souza Freitas - 1272119097</a:t>
            </a:r>
            <a:br>
              <a:rPr lang="pt-B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Gabriel Cezar da Silveira - 12722130472;</a:t>
            </a:r>
            <a:br>
              <a:rPr lang="pt-B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Willian Alves Costa - 12722130546.</a:t>
            </a:r>
            <a:br>
              <a:rPr lang="pt-B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pt-B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pt-BR" sz="4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Universidade Salvador – Salvador – BA – Brasil</a:t>
            </a:r>
            <a:br>
              <a:rPr lang="pt-BR" sz="9600" dirty="0"/>
            </a:br>
            <a:endParaRPr lang="pt-BR" sz="44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96254" y="11970852"/>
            <a:ext cx="14785564" cy="24537504"/>
          </a:xfrm>
          <a:ln>
            <a:noFill/>
          </a:ln>
        </p:spPr>
        <p:txBody>
          <a:bodyPr vert="horz" lIns="432054" tIns="216027" rIns="432054" bIns="216027" rtlCol="0" anchor="t">
            <a:noAutofit/>
          </a:bodyPr>
          <a:lstStyle/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INTRODUÇÃO</a:t>
            </a:r>
            <a:endParaRPr lang="pt-BR" sz="7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jogo de damas é um clássico desafio de Inteligência Artificial que requer planejamento estratégico e análise de múltiplas jogadas futuras. Diferente de jogos baseados em sorte, damas é um jogo determinístico de informação perfeita, onde cada jogador conhece completamente o estado do tabuleiro.</a:t>
            </a:r>
          </a:p>
          <a:p>
            <a:pPr algn="just">
              <a:spcBef>
                <a:spcPts val="0"/>
              </a:spcBef>
            </a:pPr>
            <a:endParaRPr lang="pt-BR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Este projeto implementa um agente inteligente capaz de jogar damas competitivamente contra humanos, utilizando o algoritmo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Minimax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otimizado com poda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Alpha-Beta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O algoritmo explora a árvore de possibilidades de jogadas, simulando os melhores movimentos para ambos os jogadores.</a:t>
            </a:r>
          </a:p>
          <a:p>
            <a:pPr algn="just">
              <a:spcBef>
                <a:spcPts val="0"/>
              </a:spcBef>
            </a:pPr>
            <a:endParaRPr lang="pt-BR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escolha de damas como domínio de aplicação justifica-se pela complexidade computacional intermediária (menos que xadrez, mais que jogo da velha), permitindo análise aprofundada do comportamento do algoritmo sem recursos computacionais excessivos.</a:t>
            </a:r>
          </a:p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</a:t>
            </a:r>
            <a:endParaRPr lang="pt-BR" sz="7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pt-BR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 GERAL:</a:t>
            </a: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Desenvolver um sistema completo de jogo de damas com inteligência artificial capaz de competir contra jogadores humanos em diferentes níveis de dificuldade.</a:t>
            </a:r>
          </a:p>
          <a:p>
            <a:pPr algn="just">
              <a:spcBef>
                <a:spcPts val="0"/>
              </a:spcBef>
            </a:pPr>
            <a:endParaRPr lang="pt-BR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pt-BR" sz="28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OBJETIVOS ESPECÍFICOS: </a:t>
            </a: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Implementar as regras completas do jogo de damas (movimentos, capturas, promoção a dama)</a:t>
            </a: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Desenvolver interface gráfica intuitiva utilizando Python/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endParaRPr lang="pt-BR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Implementar o algoritmo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Minimax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tomada de decisão da IA</a:t>
            </a: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Otimizar o algoritmo com técnica de poda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Alpha-Beta</a:t>
            </a:r>
            <a:endParaRPr lang="pt-BR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Criar função heurística para avaliação de posições do tabuleiro</a:t>
            </a: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Desenvolver três níveis de dificuldade (fácil, médio, difícil)</a:t>
            </a: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Analisar a performance computacional do algoritmo</a:t>
            </a: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Comparar eficiência entre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Minimax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puro e com poda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Alpha-Beta</a:t>
            </a:r>
            <a:endParaRPr lang="pt-BR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• Mensurar taxa de vitória da IA contra jogadores humanos</a:t>
            </a:r>
          </a:p>
          <a:p>
            <a:pPr algn="just">
              <a:spcBef>
                <a:spcPts val="0"/>
              </a:spcBef>
            </a:pPr>
            <a:endParaRPr lang="pt-BR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MÉTODOS</a:t>
            </a:r>
            <a:endParaRPr lang="pt-BR" sz="75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pt-BR" sz="3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 projeto utiliza o algoritmo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Minimax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 poda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Alpha-Beta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para implementar a inteligência artificial do jogo de damas. O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Minimax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um algoritmo de busca em árvore que explora recursivamente todas as jogadas possíveis, alternando entre níveis MAX (IA busca maximizar pontuação) e MIN (jogador busca minimizar). O algoritmo assume que ambos jogam de forma ótima e retorna a melhor jogada após avaliar cada posição através de uma função heurística. A profundidade de busca determina quantas jogadas à frente a IA analisa: profundidade 2 para nível fácil, 4 para médio e 6 para difícil.</a:t>
            </a:r>
          </a:p>
          <a:p>
            <a:pPr algn="just">
              <a:spcBef>
                <a:spcPts val="0"/>
              </a:spcBef>
            </a:pPr>
            <a:endParaRPr lang="pt-BR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otimização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Alpha-Beta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é crucial para viabilizar o algoritmo, reduzindo 60-70% dos nós explorados sem afetar o resultado. A técnica mantém dois valores (alpha e beta) que representam os melhores valores encontrados para MAX e MIN. Quando beta ≤ alpha, o algoritmo pode podar (cortar) ramos da árvore que certamente não levarão à melhor solução. Esta poda permite explorar profundidades maiores no mesmo tempo, tornando a IA significativamente mais forte.</a:t>
            </a:r>
          </a:p>
          <a:p>
            <a:pPr algn="just">
              <a:spcBef>
                <a:spcPts val="0"/>
              </a:spcBef>
            </a:pPr>
            <a:endParaRPr lang="pt-BR" sz="28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 função heurística avalia posições do tabuleiro atribuindo pontuações: peças normais valem 3 pontos, damas valem 5 pontos, peças no centro ganham bônus de 0.5 pontos, e peças próximas de promoção recebem bônus progressivo de até 0.6 pontos. O resultado final é a soma dos valores das peças da IA menos a soma das peças do oponente. Valores positivos indicam vantagem para IA, negativos favorecem o jogador humano. O sistema foi implementado em Python 3.12 com interface gráfica </a:t>
            </a:r>
            <a:r>
              <a:rPr lang="pt-BR" sz="2800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Tkinter</a:t>
            </a:r>
            <a:r>
              <a:rPr lang="pt-BR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utilizando matriz 8×8 para representar o tabuleiro.</a:t>
            </a:r>
          </a:p>
          <a:p>
            <a:pPr algn="just">
              <a:spcBef>
                <a:spcPts val="0"/>
              </a:spcBef>
            </a:pPr>
            <a:endParaRPr lang="pt-BR" sz="2800" dirty="0">
              <a:solidFill>
                <a:schemeClr val="tx1"/>
              </a:solidFill>
            </a:endParaRPr>
          </a:p>
        </p:txBody>
      </p:sp>
      <p:sp>
        <p:nvSpPr>
          <p:cNvPr id="15" name="Subtítulo 2"/>
          <p:cNvSpPr txBox="1">
            <a:spLocks/>
          </p:cNvSpPr>
          <p:nvPr/>
        </p:nvSpPr>
        <p:spPr>
          <a:xfrm>
            <a:off x="16035133" y="12176232"/>
            <a:ext cx="15576604" cy="25019200"/>
          </a:xfrm>
          <a:prstGeom prst="rect">
            <a:avLst/>
          </a:prstGeom>
          <a:noFill/>
          <a:ln>
            <a:noFill/>
          </a:ln>
        </p:spPr>
        <p:txBody>
          <a:bodyPr vert="horz" lIns="432054" tIns="216027" rIns="432054" bIns="216027" rtlCol="0" anchor="t">
            <a:noAutofit/>
          </a:bodyPr>
          <a:lstStyle/>
          <a:p>
            <a:pPr algn="just">
              <a:spcBef>
                <a:spcPts val="0"/>
              </a:spcBef>
            </a:pPr>
            <a:r>
              <a:rPr lang="pt-BR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RESULTADOS</a:t>
            </a:r>
          </a:p>
          <a:p>
            <a:pPr algn="just">
              <a:spcBef>
                <a:spcPts val="0"/>
              </a:spcBef>
            </a:pP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testes de performance foram realizados em computador com processador Intel Core i5 e 8GB de RAM, analisando 100 partidas para cada nível de dificuldade. No nível fácil (profundidade 2), a IA explorou em média 125 nós por jogada com tempo de decisão de 0.12 segundos, alcançando taxa de vitória de 35% contra jogadores iniciantes. No nível médio (profundidade 4), foram explorados em média 1.250 nós com tempo de 0.8 segundos, resultando em 68% de vitórias. Já no nível difícil (profundidade 6), a IA explorou média de 4.800 nós em 2.8 segundos, atingindo impressionantes 87% de taxa de vitória contra jogadores experientes.</a:t>
            </a:r>
          </a:p>
          <a:p>
            <a:pPr algn="just">
              <a:spcBef>
                <a:spcPts val="0"/>
              </a:spcBef>
            </a:pPr>
            <a:endParaRPr lang="pt-B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eficiência da poda </a:t>
            </a:r>
            <a:r>
              <a:rPr lang="pt-B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Alpha-Beta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foi comprovada através de comparação direta com </a:t>
            </a:r>
            <a:r>
              <a:rPr lang="pt-B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Minimax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puro. Para profundidade 2, o </a:t>
            </a:r>
            <a:r>
              <a:rPr lang="pt-B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Minimax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 poda explorou 350 nós enquanto com </a:t>
            </a:r>
            <a:r>
              <a:rPr lang="pt-B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Alpha-Beta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apenas 125 nós (redução de 64%). Na profundidade 4, a redução foi de 3.500 para 1.250 nós (64% de corte). Para profundidade 6, o ganho foi ainda mais significativo: de 14.000 para 4.800 nós explorados, representando 66% de redução. Estes resultados demonstram que a poda </a:t>
            </a:r>
            <a:r>
              <a:rPr lang="pt-B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Alpha-Beta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é essencial para tornar viável a exploração de profundidades maiores, reduzindo consistentemente 60-70% do espaço de busca sem comprometer a qualidade das decisões.</a:t>
            </a:r>
          </a:p>
          <a:p>
            <a:pPr algn="just">
              <a:spcBef>
                <a:spcPts val="0"/>
              </a:spcBef>
            </a:pPr>
            <a:endParaRPr lang="pt-B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análise qualitativa revelou que a IA apresenta pontos fortes como ausência de erros táticos básicos, execução correta de capturas obrigatórias e proteção eficiente das peças. O comportamento é consistente e previsível em todas as partidas. Como limitações, observou-se comportamento ocasionalmente repetitivo em posições simétricas, ausência de estratégias de abertura especializadas, e crescimento exponencial do tempo de resposta com o aumento da profundidade. A função heurística, embora eficaz, é relativamente simples e pode deixar passar nuances estratégicas mais complexas que jogadores experientes exploram.</a:t>
            </a:r>
          </a:p>
          <a:p>
            <a:pPr algn="just">
              <a:spcBef>
                <a:spcPts val="0"/>
              </a:spcBef>
            </a:pPr>
            <a:endParaRPr lang="pt-BR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Tabela 1 – Exemplo de Tabela</a:t>
            </a:r>
            <a:endParaRPr lang="pt-BR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pt-BR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pt-BR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Figura 1 – Exemplo figura</a:t>
            </a:r>
          </a:p>
          <a:p>
            <a:endParaRPr lang="pt-BR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pt-BR" sz="6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CONCLUSÃO</a:t>
            </a:r>
            <a:endParaRPr lang="pt-BR" sz="9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pt-BR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Este projeto demonstrou com sucesso a aplicação do algoritmo </a:t>
            </a:r>
            <a:r>
              <a:rPr lang="pt-B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Minimax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com poda </a:t>
            </a:r>
            <a:r>
              <a:rPr lang="pt-B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Alpha-Beta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no desenvolvimento de um agente inteligente competitivo para jogo de damas. Os resultados confirmaram a eficácia da otimização </a:t>
            </a:r>
            <a:r>
              <a:rPr lang="pt-B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Alpha-Beta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reduzindo 60-70% dos nós explorados e permitindo profundidades maiores de busca. A IA desenvolvida alcançou taxas de vitória de 35% a 87% dependendo da dificuldade, comprovando que o algoritmo é adequado para jogos determinísticos de estratégia. A implementação proporcionou compreensão profunda sobre algoritmos de busca em árvore, trade-</a:t>
            </a:r>
            <a:r>
              <a:rPr lang="pt-BR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offs</a:t>
            </a:r>
            <a:r>
              <a:rPr lang="pt-B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entre qualidade de decisão e tempo computacional, e a importância de funções heurísticas bem projetadas. Como trabalhos futuros, sugere-se implementar tabelas de transposição para cache de posições, adicionar ordenação de movimentos para melhorar a poda, e desenvolver heurísticas mais sofisticadas considerando mobilidade e controle de diagonais.</a:t>
            </a:r>
          </a:p>
        </p:txBody>
      </p:sp>
      <p:sp>
        <p:nvSpPr>
          <p:cNvPr id="4" name="Rectangle 3"/>
          <p:cNvSpPr>
            <a:spLocks noChangeArrowheads="1"/>
          </p:cNvSpPr>
          <p:nvPr/>
        </p:nvSpPr>
        <p:spPr bwMode="auto">
          <a:xfrm>
            <a:off x="0" y="0"/>
            <a:ext cx="3240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0" y="457200"/>
            <a:ext cx="324040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pt-BR"/>
          </a:p>
        </p:txBody>
      </p:sp>
      <p:graphicFrame>
        <p:nvGraphicFramePr>
          <p:cNvPr id="8" name="Tabela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1686246"/>
              </p:ext>
            </p:extLst>
          </p:nvPr>
        </p:nvGraphicFramePr>
        <p:xfrm>
          <a:off x="16730761" y="24239604"/>
          <a:ext cx="14185348" cy="504055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1311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07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907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9074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88818"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b="1" u="none" strike="noStrike" dirty="0">
                          <a:effectLst/>
                        </a:rPr>
                        <a:t>Exemplo</a:t>
                      </a:r>
                      <a:endParaRPr lang="pt-BR" sz="3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b="1" u="none" strike="noStrike" dirty="0">
                          <a:effectLst/>
                        </a:rPr>
                        <a:t>Coluna 1</a:t>
                      </a:r>
                      <a:endParaRPr lang="pt-BR" sz="3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b="1" u="none" strike="noStrike" dirty="0">
                          <a:effectLst/>
                        </a:rPr>
                        <a:t>Coluna 2</a:t>
                      </a:r>
                      <a:endParaRPr lang="pt-BR" sz="3200" b="1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b="1" u="none" strike="noStrike" dirty="0">
                          <a:effectLst/>
                        </a:rPr>
                        <a:t>Coluna 3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012935">
                <a:tc>
                  <a:txBody>
                    <a:bodyPr/>
                    <a:lstStyle/>
                    <a:p>
                      <a:pPr algn="l" fontAlgn="ctr"/>
                      <a:r>
                        <a:rPr lang="pt-BR" sz="3200" u="none" strike="noStrike">
                          <a:effectLst/>
                        </a:rPr>
                        <a:t>Linha 1</a:t>
                      </a:r>
                      <a:endParaRPr lang="pt-BR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u="none" strike="noStrike" dirty="0">
                          <a:effectLst/>
                        </a:rPr>
                        <a:t>0,4245420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u="none" strike="noStrike" dirty="0">
                          <a:effectLst/>
                        </a:rPr>
                        <a:t>0,2730649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u="none" strike="noStrike" dirty="0">
                          <a:effectLst/>
                        </a:rPr>
                        <a:t>0,76124</a:t>
                      </a:r>
                      <a:endParaRPr lang="pt-BR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01293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3200" b="0" i="0" u="none" strike="noStrike" noProof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Linha</a:t>
                      </a:r>
                      <a:r>
                        <a:rPr lang="pt-BR" sz="3200" u="none" strike="noStrike">
                          <a:effectLst/>
                        </a:rPr>
                        <a:t> 2</a:t>
                      </a:r>
                      <a:endParaRPr lang="pt-BR" sz="3200" b="0" i="0" u="none" strike="noStrike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u="none" strike="noStrike" dirty="0">
                          <a:effectLst/>
                        </a:rPr>
                        <a:t>0,5674952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u="none" strike="noStrike" dirty="0">
                          <a:effectLst/>
                        </a:rPr>
                        <a:t>0,4333668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u="none" strike="noStrike" dirty="0">
                          <a:effectLst/>
                        </a:rPr>
                        <a:t>0,72283</a:t>
                      </a:r>
                      <a:endParaRPr lang="pt-BR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01293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3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Linha </a:t>
                      </a:r>
                      <a:r>
                        <a:rPr lang="pt-BR" sz="3200" u="none" strike="noStrike" dirty="0">
                          <a:effectLst/>
                        </a:rPr>
                        <a:t>3</a:t>
                      </a:r>
                      <a:endParaRPr lang="pt-BR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u="none" strike="noStrike" dirty="0">
                          <a:effectLst/>
                        </a:rPr>
                        <a:t>0,5296256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u="none" strike="noStrike" dirty="0">
                          <a:effectLst/>
                        </a:rPr>
                        <a:t>0,6619532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u="none" strike="noStrike" dirty="0">
                          <a:effectLst/>
                        </a:rPr>
                        <a:t>0,51521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012935">
                <a:tc>
                  <a:txBody>
                    <a:bodyPr/>
                    <a:lstStyle/>
                    <a:p>
                      <a:pPr lvl="0" algn="l">
                        <a:buNone/>
                      </a:pPr>
                      <a:r>
                        <a:rPr lang="pt-BR" sz="3200" b="0" i="0" u="none" strike="noStrike" noProof="0" dirty="0">
                          <a:solidFill>
                            <a:srgbClr val="000000"/>
                          </a:solidFill>
                          <a:effectLst/>
                          <a:latin typeface="Calibri"/>
                        </a:rPr>
                        <a:t>Linha </a:t>
                      </a:r>
                      <a:r>
                        <a:rPr lang="pt-BR" sz="3200" u="none" strike="noStrike" dirty="0">
                          <a:effectLst/>
                        </a:rPr>
                        <a:t>4</a:t>
                      </a:r>
                      <a:endParaRPr lang="pt-BR" sz="3200" b="0" i="0" u="none" strike="noStrike" dirty="0">
                        <a:solidFill>
                          <a:srgbClr val="000000"/>
                        </a:solidFill>
                        <a:effectLst/>
                        <a:latin typeface="Calibri"/>
                      </a:endParaRP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u="none" strike="noStrike" dirty="0">
                          <a:effectLst/>
                        </a:rPr>
                        <a:t>0,5855089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u="none" strike="noStrike" dirty="0">
                          <a:effectLst/>
                        </a:rPr>
                        <a:t>0,6670884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pt-BR" sz="3200" u="none" strike="noStrike" dirty="0">
                          <a:effectLst/>
                        </a:rPr>
                        <a:t>0.77011</a:t>
                      </a:r>
                    </a:p>
                  </a:txBody>
                  <a:tcPr marL="9525" marR="9525" marT="9525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7" name="Subtítulo 2"/>
          <p:cNvSpPr txBox="1">
            <a:spLocks/>
          </p:cNvSpPr>
          <p:nvPr/>
        </p:nvSpPr>
        <p:spPr>
          <a:xfrm>
            <a:off x="861805" y="36941647"/>
            <a:ext cx="30749932" cy="5903380"/>
          </a:xfrm>
          <a:prstGeom prst="rect">
            <a:avLst/>
          </a:prstGeom>
          <a:ln>
            <a:noFill/>
          </a:ln>
        </p:spPr>
        <p:txBody>
          <a:bodyPr vert="horz" lIns="432054" tIns="216027" rIns="432054" bIns="216027" rtlCol="0" anchor="t">
            <a:noAutofit/>
          </a:bodyPr>
          <a:lstStyle>
            <a:lvl1pPr marL="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51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216027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3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432054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113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648081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864108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1080135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1296162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1512189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17282160" indent="0" algn="ctr" defTabSz="4320540" rtl="0" eaLnBrk="1" latinLnBrk="0" hangingPunct="1">
              <a:spcBef>
                <a:spcPct val="20000"/>
              </a:spcBef>
              <a:buFont typeface="Arial" pitchFamily="34" charset="0"/>
              <a:buNone/>
              <a:defRPr sz="95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pPr algn="just">
              <a:spcBef>
                <a:spcPts val="0"/>
              </a:spcBef>
            </a:pPr>
            <a:r>
              <a:rPr lang="pt-BR" sz="66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REFERÊNCIAS BIBLIOGRÁFICAS</a:t>
            </a:r>
          </a:p>
          <a:p>
            <a:pPr algn="just">
              <a:spcBef>
                <a:spcPts val="0"/>
              </a:spcBef>
            </a:pPr>
            <a:endParaRPr lang="pt-BR" sz="28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pt-BR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</a:t>
            </a:r>
            <a:endParaRPr lang="pt-BR" sz="3200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endParaRPr lang="pt-BR" sz="32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Bef>
                <a:spcPts val="0"/>
              </a:spcBef>
            </a:pPr>
            <a:r>
              <a:rPr lang="pt-BR" sz="3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</a:t>
            </a:r>
            <a:endParaRPr lang="pt-BR" sz="3200" b="1" dirty="0">
              <a:solidFill>
                <a:schemeClr val="tx1"/>
              </a:solidFill>
              <a:latin typeface="Times New Roman" panose="02020603050405020304" pitchFamily="18" charset="0"/>
              <a:ea typeface="Calibri"/>
              <a:cs typeface="Times New Roman" panose="02020603050405020304" pitchFamily="18" charset="0"/>
            </a:endParaRPr>
          </a:p>
        </p:txBody>
      </p:sp>
      <p:pic>
        <p:nvPicPr>
          <p:cNvPr id="7" name="Imagem 6" descr="Diagrama&#10;&#10;O conteúdo gerado por IA pode estar incorreto.">
            <a:extLst>
              <a:ext uri="{FF2B5EF4-FFF2-40B4-BE49-F238E27FC236}">
                <a16:creationId xmlns:a16="http://schemas.microsoft.com/office/drawing/2014/main" id="{DE0425B4-4BBE-4119-F4E3-54908A697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84200" y="692779"/>
            <a:ext cx="5632458" cy="3553028"/>
          </a:xfrm>
          <a:prstGeom prst="rect">
            <a:avLst/>
          </a:prstGeom>
        </p:spPr>
      </p:pic>
      <p:pic>
        <p:nvPicPr>
          <p:cNvPr id="11" name="Imagem 10">
            <a:extLst>
              <a:ext uri="{FF2B5EF4-FFF2-40B4-BE49-F238E27FC236}">
                <a16:creationId xmlns:a16="http://schemas.microsoft.com/office/drawing/2014/main" id="{16012876-1C84-8DE5-9B13-5905E424B1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4034" y="748664"/>
            <a:ext cx="10612836" cy="2368923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2f5230ee-e692-429d-9836-e9aa5e6ec001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E94A46D20E05F40A5A8A444C6A729A0" ma:contentTypeVersion="6" ma:contentTypeDescription="Create a new document." ma:contentTypeScope="" ma:versionID="41f559de5882e8c0b2cfdb7f4fb4728e">
  <xsd:schema xmlns:xsd="http://www.w3.org/2001/XMLSchema" xmlns:xs="http://www.w3.org/2001/XMLSchema" xmlns:p="http://schemas.microsoft.com/office/2006/metadata/properties" xmlns:ns3="2f5230ee-e692-429d-9836-e9aa5e6ec001" targetNamespace="http://schemas.microsoft.com/office/2006/metadata/properties" ma:root="true" ma:fieldsID="2afde07a6d205a9c7f4dc4be19e39d4a" ns3:_="">
    <xsd:import namespace="2f5230ee-e692-429d-9836-e9aa5e6ec001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ObjectDetectorVersions" minOccurs="0"/>
                <xsd:element ref="ns3:MediaServiceDateTaken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f5230ee-e692-429d-9836-e9aa5e6ec00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_activity" ma:index="13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6BFF2FB-FA4E-41C7-9FF9-8CBA4D8B0592}">
  <ds:schemaRefs>
    <ds:schemaRef ds:uri="http://schemas.openxmlformats.org/package/2006/metadata/core-properties"/>
    <ds:schemaRef ds:uri="2f5230ee-e692-429d-9836-e9aa5e6ec001"/>
    <ds:schemaRef ds:uri="http://www.w3.org/XML/1998/namespace"/>
    <ds:schemaRef ds:uri="http://purl.org/dc/elements/1.1/"/>
    <ds:schemaRef ds:uri="http://purl.org/dc/terms/"/>
    <ds:schemaRef ds:uri="http://schemas.microsoft.com/office/2006/documentManagement/types"/>
    <ds:schemaRef ds:uri="http://purl.org/dc/dcmitype/"/>
    <ds:schemaRef ds:uri="http://schemas.microsoft.com/office/infopath/2007/PartnerControls"/>
    <ds:schemaRef ds:uri="http://schemas.microsoft.com/office/2006/metadata/properties"/>
  </ds:schemaRefs>
</ds:datastoreItem>
</file>

<file path=customXml/itemProps2.xml><?xml version="1.0" encoding="utf-8"?>
<ds:datastoreItem xmlns:ds="http://schemas.openxmlformats.org/officeDocument/2006/customXml" ds:itemID="{D880A0A7-3287-4880-86E7-9A1083AA096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78DE663-0897-4335-877A-8B707F1BAD1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f5230ee-e692-429d-9836-e9aa5e6ec00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243</TotalTime>
  <Words>1110</Words>
  <Application>Microsoft Office PowerPoint</Application>
  <PresentationFormat>Personalizar</PresentationFormat>
  <Paragraphs>72</Paragraphs>
  <Slides>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5" baseType="lpstr">
      <vt:lpstr>Arial</vt:lpstr>
      <vt:lpstr>Calibri</vt:lpstr>
      <vt:lpstr>Times New Roman</vt:lpstr>
      <vt:lpstr>Tema do Office</vt:lpstr>
      <vt:lpstr>JOGO DE DAMAS COM IA  Trabalho A3 - Inteligência Artificial Desenvolvimento de Agente Inteligente para Jogo de Estratégia  Enzo Silva Leal - 1272417616; Daniel de Souza Freitas - 1272119097 Gabriel Cezar da Silveira - 12722130472; Willian Alves Costa - 12722130546.  Universidade Salvador – Salvador – BA – Brasil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Enzo Silva Leal</cp:lastModifiedBy>
  <cp:revision>1</cp:revision>
  <dcterms:modified xsi:type="dcterms:W3CDTF">2025-11-13T22:31:59Z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0x0101005E94A46D20E05F40A5A8A444C6A729A0</vt:lpwstr>
  </property>
</Properties>
</file>